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3"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B65A432C-157A-921E-ECE3-E34EDF0FFFA6}">
          <p14:sldIdLst>
            <p14:sldId id="256"/>
          </p14:sldIdLst>
        </p14:section>
        <p14:section name="Rơ le thời gian" id="{1C086997-7770-9CAE-B1A3-96C2A0A287C0}">
          <p14:sldIdLst>
            <p14:sldId id="257"/>
            <p14:sldId id="258"/>
            <p14:sldId id="259"/>
            <p14:sldId id="260"/>
          </p14:sldIdLst>
        </p14:section>
        <p14:section name="Mô phỏng" id="{C8BC4A74-4464-A488-B3D8-38019932EF4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579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thầy/cô và các bạn. Hôm nay em xin trình bày về rơ le thời gian và ứng dụng của nó trong mạch khởi động động cơ 3 pha sao - tam giác.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Rơ le thời gian hoạt động giống rơ le thường, nhưng có thêm chức năng làm trễ. Khi có tín hiệu vào, tiếp điểm không đổi trạng thái ngay mà phải chờ đủ thời gian cài đặt. Nhờ đó mạch có thể tự chạy theo thứ tự, ví dụ máy này chạy trước, 5 giây sau máy kia mới chạy.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hai loại chính là trễ khi đóng và trễ khi ngắt. Điểm khác nhau là độ trễ nằm ở lúc cấp điện hay lúc ngắt điện. Trong bài này em dùng loại trễ khi đóng. Hiện nay loại điện tử là phổ biến nhất vì chính xác, nhỏ gọn và dễ chỉnh thời gian.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chọn rơ le thời gian cần quan tâm các thông số này. Quan trọng nhất là điện áp cuộn dây phải khớp với nguồn điều khiển, và dải thời gian phải phù hợp với yêu cầu của mạch.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Rơ le thời gian xuất hiện trong rất nhiều hệ thống từ dân dụng đến công nghiệp. Ứng dụng kinh điển nhất là khởi động sao - tam giác, cũng là mạch em mô phỏng hôm nay.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mô phỏng bằng phần mềm CADe_SIMU. Ở hình 3, các contactor K1 và K2 đang hoạt động, động cơ chạy sao. Sau 5 giây, như hình 4, K2 nhả ra, K3 đóng vào và động cơ chuyển sang tam giác. Kết quả đúng với lý thuyết. (Nếu có video quay màn hình mô phỏng thì chèn vào slide này.)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46304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
        <p:nvSpPr>
          <p:cNvPr id="3" name="Text 0"/>
          <p:cNvSpPr>
            <a:spLocks noGrp="1"/>
          </p:cNvSpPr>
          <p:nvPr>
            <p:ph type="body" idx="101" hasCustomPrompt="1"/>
          </p:nvPr>
        </p:nvSpPr>
        <p:spPr>
          <a:xfrm>
            <a:off x="640080" y="3383280"/>
            <a:ext cx="7863840" cy="457200"/>
          </a:xfrm>
          <a:prstGeom prst="rect">
            <a:avLst/>
          </a:prstGeom>
          <a:noFill/>
          <a:ln/>
        </p:spPr>
        <p:txBody>
          <a:bodyPr wrap="square" rtlCol="0"/>
          <a:lstStyle>
            <a:lvl1pPr marL="0" indent="0" algn="l">
              <a:buNone/>
              <a:defRPr lang="en-US" sz="1800" dirty="0">
                <a:solidFill>
                  <a:schemeClr val="accent1"/>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74320"/>
            <a:ext cx="7863840"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457200"/>
            <a:ext cx="914400" cy="914400"/>
          </a:xfrm>
          <a:prstGeom prst="ellipse">
            <a:avLst/>
          </a:prstGeom>
          <a:solidFill>
            <a:schemeClr val="tx2"/>
          </a:solidFill>
          <a:ln w="50800">
            <a:solidFill>
              <a:schemeClr val="accent1"/>
            </a:solidFill>
            <a:prstDash val="solid"/>
          </a:ln>
        </p:spPr>
        <p:txBody>
          <a:bodyPr/>
          <a:lstStyle/>
          <a:p>
            <a:endParaRPr lang="en-US"/>
          </a:p>
        </p:txBody>
      </p:sp>
      <p:sp>
        <p:nvSpPr>
          <p:cNvPr id="3" name="Shape 1"/>
          <p:cNvSpPr/>
          <p:nvPr/>
        </p:nvSpPr>
        <p:spPr>
          <a:xfrm>
            <a:off x="1097280" y="658368"/>
            <a:ext cx="0" cy="256032"/>
          </a:xfrm>
          <a:prstGeom prst="line">
            <a:avLst/>
          </a:prstGeom>
          <a:noFill/>
          <a:ln w="38100">
            <a:solidFill>
              <a:schemeClr val="accent1"/>
            </a:solidFill>
            <a:prstDash val="solid"/>
          </a:ln>
        </p:spPr>
        <p:txBody>
          <a:bodyPr/>
          <a:lstStyle/>
          <a:p>
            <a:endParaRPr lang="en-US"/>
          </a:p>
        </p:txBody>
      </p:sp>
      <p:sp>
        <p:nvSpPr>
          <p:cNvPr id="4" name="Shape 2"/>
          <p:cNvSpPr/>
          <p:nvPr/>
        </p:nvSpPr>
        <p:spPr>
          <a:xfrm>
            <a:off x="1097280" y="914400"/>
            <a:ext cx="201168" cy="0"/>
          </a:xfrm>
          <a:prstGeom prst="line">
            <a:avLst/>
          </a:prstGeom>
          <a:noFill/>
          <a:ln w="38100">
            <a:solidFill>
              <a:schemeClr val="accent1"/>
            </a:solidFill>
            <a:prstDash val="solid"/>
          </a:ln>
        </p:spPr>
        <p:txBody>
          <a:bodyPr/>
          <a:lstStyle/>
          <a:p>
            <a:endParaRPr lang="en-US"/>
          </a:p>
        </p:txBody>
      </p:sp>
      <p:sp>
        <p:nvSpPr>
          <p:cNvPr id="5" name="Text 3"/>
          <p:cNvSpPr txBox="1"/>
          <p:nvPr/>
        </p:nvSpPr>
        <p:spPr>
          <a:xfrm>
            <a:off x="1783080" y="731520"/>
            <a:ext cx="4572000" cy="365760"/>
          </a:xfrm>
          <a:prstGeom prst="rect">
            <a:avLst/>
          </a:prstGeom>
          <a:noFill/>
          <a:ln/>
        </p:spPr>
        <p:txBody>
          <a:bodyPr wrap="square" lIns="0" tIns="0" rIns="0" bIns="0" rtlCol="0" anchor="ctr"/>
          <a:lstStyle/>
          <a:p>
            <a:pPr marL="0" indent="0">
              <a:buNone/>
            </a:pPr>
            <a:r>
              <a:rPr lang="en-US" sz="1600" b="1" kern="0" spc="300" dirty="0">
                <a:solidFill>
                  <a:schemeClr val="accent1"/>
                </a:solidFill>
              </a:rPr>
              <a:t>BÁO CÁO TÌM HIỂU</a:t>
            </a:r>
            <a:endParaRPr lang="en-US" sz="1600" dirty="0"/>
          </a:p>
        </p:txBody>
      </p:sp>
      <p:sp>
        <p:nvSpPr>
          <p:cNvPr id="6" name="Text 0"/>
          <p:cNvSpPr>
            <a:spLocks noGrp="1"/>
          </p:cNvSpPr>
          <p:nvPr>
            <p:ph type="title" idx="100" hasCustomPrompt="1"/>
          </p:nvPr>
        </p:nvSpPr>
        <p:spPr>
          <a:xfrm>
            <a:off x="640080" y="1737360"/>
            <a:ext cx="7863840" cy="1463040"/>
          </a:xfrm>
          <a:prstGeom prst="rect">
            <a:avLst/>
          </a:prstGeom>
          <a:noFill/>
          <a:ln/>
        </p:spPr>
        <p:txBody>
          <a:bodyPr wrap="square" lIns="0" tIns="0" rIns="0" bIns="0" rtlCol="0" anchor="t"/>
          <a:lstStyle/>
          <a:p>
            <a:pPr marL="0" indent="0" algn="l">
              <a:buNone/>
            </a:pPr>
            <a:r>
              <a:rPr lang="en-US" sz="2800" b="1" dirty="0">
                <a:solidFill>
                  <a:schemeClr val="bg1"/>
                </a:solidFill>
              </a:rPr>
              <a:t>TÌM HIỂU RƠ LE THỜI GIAN (TIMER RELAY) VÀ ỨNG DỤNG TRONG MẠCH KHỞI ĐỘNG SAO - TAM GIÁC</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Rơ le thời gian là gì</a:t>
            </a:r>
            <a:endParaRPr lang="en-US" sz="3000" dirty="0"/>
          </a:p>
        </p:txBody>
      </p:sp>
      <p:sp>
        <p:nvSpPr>
          <p:cNvPr id="3" name="Shape 1"/>
          <p:cNvSpPr/>
          <p:nvPr/>
        </p:nvSpPr>
        <p:spPr>
          <a:xfrm>
            <a:off x="457200" y="1280160"/>
            <a:ext cx="40233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4" name="Shape 2"/>
          <p:cNvSpPr/>
          <p:nvPr/>
        </p:nvSpPr>
        <p:spPr>
          <a:xfrm>
            <a:off x="685800" y="150876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5" name="Text 3"/>
          <p:cNvSpPr txBox="1"/>
          <p:nvPr/>
        </p:nvSpPr>
        <p:spPr>
          <a:xfrm>
            <a:off x="685800" y="150876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6" name="Text 4"/>
          <p:cNvSpPr txBox="1"/>
          <p:nvPr/>
        </p:nvSpPr>
        <p:spPr>
          <a:xfrm>
            <a:off x="1234440" y="1508760"/>
            <a:ext cx="3063240" cy="384048"/>
          </a:xfrm>
          <a:prstGeom prst="rect">
            <a:avLst/>
          </a:prstGeom>
          <a:noFill/>
          <a:ln/>
        </p:spPr>
        <p:txBody>
          <a:bodyPr wrap="square" lIns="0" tIns="0" rIns="0" bIns="0" rtlCol="0" anchor="ctr"/>
          <a:lstStyle/>
          <a:p>
            <a:pPr marL="0" indent="0">
              <a:buNone/>
            </a:pPr>
            <a:r>
              <a:rPr lang="en-US" sz="1800" b="1" dirty="0">
                <a:solidFill>
                  <a:schemeClr val="tx2"/>
                </a:solidFill>
              </a:rPr>
              <a:t>Tạo thời gian trễ</a:t>
            </a:r>
            <a:endParaRPr lang="en-US" sz="1800" dirty="0"/>
          </a:p>
        </p:txBody>
      </p:sp>
      <p:sp>
        <p:nvSpPr>
          <p:cNvPr id="7" name="Text 5"/>
          <p:cNvSpPr txBox="1"/>
          <p:nvPr/>
        </p:nvSpPr>
        <p:spPr>
          <a:xfrm>
            <a:off x="1234440" y="2011680"/>
            <a:ext cx="3063240" cy="640080"/>
          </a:xfrm>
          <a:prstGeom prst="rect">
            <a:avLst/>
          </a:prstGeom>
          <a:noFill/>
          <a:ln/>
        </p:spPr>
        <p:txBody>
          <a:bodyPr wrap="square" lIns="0" tIns="0" rIns="0" bIns="0" rtlCol="0" anchor="t"/>
          <a:lstStyle/>
          <a:p>
            <a:pPr marL="0" indent="0">
              <a:buNone/>
            </a:pPr>
            <a:r>
              <a:rPr lang="en-US" sz="1400" dirty="0">
                <a:solidFill>
                  <a:schemeClr val="tx1"/>
                </a:solidFill>
              </a:rPr>
              <a:t>Giữa tín hiệu đầu vào và lúc tiếp điểm đầu ra đổi trạng thái</a:t>
            </a:r>
            <a:endParaRPr lang="en-US" sz="1400" dirty="0"/>
          </a:p>
        </p:txBody>
      </p:sp>
      <p:sp>
        <p:nvSpPr>
          <p:cNvPr id="8" name="Shape 6"/>
          <p:cNvSpPr/>
          <p:nvPr/>
        </p:nvSpPr>
        <p:spPr>
          <a:xfrm>
            <a:off x="4663440" y="1280160"/>
            <a:ext cx="40233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9" name="Shape 7"/>
          <p:cNvSpPr/>
          <p:nvPr/>
        </p:nvSpPr>
        <p:spPr>
          <a:xfrm>
            <a:off x="4892040" y="150876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4892040" y="150876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11" name="Text 9"/>
          <p:cNvSpPr txBox="1"/>
          <p:nvPr/>
        </p:nvSpPr>
        <p:spPr>
          <a:xfrm>
            <a:off x="5440680" y="1508760"/>
            <a:ext cx="3063240" cy="384048"/>
          </a:xfrm>
          <a:prstGeom prst="rect">
            <a:avLst/>
          </a:prstGeom>
          <a:noFill/>
          <a:ln/>
        </p:spPr>
        <p:txBody>
          <a:bodyPr wrap="square" lIns="0" tIns="0" rIns="0" bIns="0" rtlCol="0" anchor="ctr"/>
          <a:lstStyle/>
          <a:p>
            <a:pPr marL="0" indent="0">
              <a:buNone/>
            </a:pPr>
            <a:r>
              <a:rPr lang="en-US" sz="1800" b="1" dirty="0">
                <a:solidFill>
                  <a:schemeClr val="tx2"/>
                </a:solidFill>
              </a:rPr>
              <a:t>Chỉnh được thời gian</a:t>
            </a:r>
            <a:endParaRPr lang="en-US" sz="1800" dirty="0"/>
          </a:p>
        </p:txBody>
      </p:sp>
      <p:sp>
        <p:nvSpPr>
          <p:cNvPr id="12" name="Text 10"/>
          <p:cNvSpPr txBox="1"/>
          <p:nvPr/>
        </p:nvSpPr>
        <p:spPr>
          <a:xfrm>
            <a:off x="5440680" y="2011680"/>
            <a:ext cx="3063240" cy="640080"/>
          </a:xfrm>
          <a:prstGeom prst="rect">
            <a:avLst/>
          </a:prstGeom>
          <a:noFill/>
          <a:ln/>
        </p:spPr>
        <p:txBody>
          <a:bodyPr wrap="square" lIns="0" tIns="0" rIns="0" bIns="0" rtlCol="0" anchor="t"/>
          <a:lstStyle/>
          <a:p>
            <a:pPr marL="0" indent="0">
              <a:buNone/>
            </a:pPr>
            <a:r>
              <a:rPr lang="en-US" sz="1400" dirty="0">
                <a:solidFill>
                  <a:schemeClr val="tx1"/>
                </a:solidFill>
              </a:rPr>
              <a:t>Từ vài giây đến vài giờ, chỉnh bằng núm xoay</a:t>
            </a:r>
            <a:endParaRPr lang="en-US" sz="1400" dirty="0"/>
          </a:p>
        </p:txBody>
      </p:sp>
      <p:sp>
        <p:nvSpPr>
          <p:cNvPr id="13" name="Shape 11"/>
          <p:cNvSpPr/>
          <p:nvPr/>
        </p:nvSpPr>
        <p:spPr>
          <a:xfrm>
            <a:off x="457200" y="2926080"/>
            <a:ext cx="40233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14" name="Shape 12"/>
          <p:cNvSpPr/>
          <p:nvPr/>
        </p:nvSpPr>
        <p:spPr>
          <a:xfrm>
            <a:off x="685800" y="315468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5" name="Text 13"/>
          <p:cNvSpPr txBox="1"/>
          <p:nvPr/>
        </p:nvSpPr>
        <p:spPr>
          <a:xfrm>
            <a:off x="685800" y="315468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16" name="Text 14"/>
          <p:cNvSpPr txBox="1"/>
          <p:nvPr/>
        </p:nvSpPr>
        <p:spPr>
          <a:xfrm>
            <a:off x="1234440" y="3154680"/>
            <a:ext cx="3063240" cy="384048"/>
          </a:xfrm>
          <a:prstGeom prst="rect">
            <a:avLst/>
          </a:prstGeom>
          <a:noFill/>
          <a:ln/>
        </p:spPr>
        <p:txBody>
          <a:bodyPr wrap="square" lIns="0" tIns="0" rIns="0" bIns="0" rtlCol="0" anchor="ctr"/>
          <a:lstStyle/>
          <a:p>
            <a:pPr marL="0" indent="0">
              <a:buNone/>
            </a:pPr>
            <a:r>
              <a:rPr lang="en-US" sz="1800" b="1" dirty="0">
                <a:solidFill>
                  <a:schemeClr val="tx2"/>
                </a:solidFill>
              </a:rPr>
              <a:t>Tự động theo trình tự</a:t>
            </a:r>
            <a:endParaRPr lang="en-US" sz="1800" dirty="0"/>
          </a:p>
        </p:txBody>
      </p:sp>
      <p:sp>
        <p:nvSpPr>
          <p:cNvPr id="17" name="Text 15"/>
          <p:cNvSpPr txBox="1"/>
          <p:nvPr/>
        </p:nvSpPr>
        <p:spPr>
          <a:xfrm>
            <a:off x="1234440" y="3657600"/>
            <a:ext cx="3063240" cy="640080"/>
          </a:xfrm>
          <a:prstGeom prst="rect">
            <a:avLst/>
          </a:prstGeom>
          <a:noFill/>
          <a:ln/>
        </p:spPr>
        <p:txBody>
          <a:bodyPr wrap="square" lIns="0" tIns="0" rIns="0" bIns="0" rtlCol="0" anchor="t"/>
          <a:lstStyle/>
          <a:p>
            <a:pPr marL="0" indent="0">
              <a:buNone/>
            </a:pPr>
            <a:r>
              <a:rPr lang="en-US" sz="1400" dirty="0">
                <a:solidFill>
                  <a:schemeClr val="tx1"/>
                </a:solidFill>
              </a:rPr>
              <a:t>Máy này chạy trước, vài giây sau máy kia mới chạy</a:t>
            </a:r>
            <a:endParaRPr lang="en-US" sz="1400" dirty="0"/>
          </a:p>
        </p:txBody>
      </p:sp>
      <p:sp>
        <p:nvSpPr>
          <p:cNvPr id="18" name="Shape 16"/>
          <p:cNvSpPr/>
          <p:nvPr/>
        </p:nvSpPr>
        <p:spPr>
          <a:xfrm>
            <a:off x="4663440" y="2926080"/>
            <a:ext cx="40233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19" name="Shape 17"/>
          <p:cNvSpPr/>
          <p:nvPr/>
        </p:nvSpPr>
        <p:spPr>
          <a:xfrm>
            <a:off x="4892040" y="315468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20" name="Text 18"/>
          <p:cNvSpPr txBox="1"/>
          <p:nvPr/>
        </p:nvSpPr>
        <p:spPr>
          <a:xfrm>
            <a:off x="4892040" y="315468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4</a:t>
            </a:r>
            <a:endParaRPr lang="en-US" sz="1600" dirty="0"/>
          </a:p>
        </p:txBody>
      </p:sp>
      <p:sp>
        <p:nvSpPr>
          <p:cNvPr id="21" name="Text 19"/>
          <p:cNvSpPr txBox="1"/>
          <p:nvPr/>
        </p:nvSpPr>
        <p:spPr>
          <a:xfrm>
            <a:off x="5440680" y="3154680"/>
            <a:ext cx="3063240" cy="384048"/>
          </a:xfrm>
          <a:prstGeom prst="rect">
            <a:avLst/>
          </a:prstGeom>
          <a:noFill/>
          <a:ln/>
        </p:spPr>
        <p:txBody>
          <a:bodyPr wrap="square" lIns="0" tIns="0" rIns="0" bIns="0" rtlCol="0" anchor="ctr"/>
          <a:lstStyle/>
          <a:p>
            <a:pPr marL="0" indent="0">
              <a:buNone/>
            </a:pPr>
            <a:r>
              <a:rPr lang="en-US" sz="1800" b="1" dirty="0">
                <a:solidFill>
                  <a:schemeClr val="tx2"/>
                </a:solidFill>
              </a:rPr>
              <a:t>Ký hiệu thường gặp</a:t>
            </a:r>
            <a:endParaRPr lang="en-US" sz="1800" dirty="0"/>
          </a:p>
        </p:txBody>
      </p:sp>
      <p:sp>
        <p:nvSpPr>
          <p:cNvPr id="22" name="Text 20"/>
          <p:cNvSpPr txBox="1"/>
          <p:nvPr/>
        </p:nvSpPr>
        <p:spPr>
          <a:xfrm>
            <a:off x="5440680" y="3657600"/>
            <a:ext cx="3063240" cy="640080"/>
          </a:xfrm>
          <a:prstGeom prst="rect">
            <a:avLst/>
          </a:prstGeom>
          <a:noFill/>
          <a:ln/>
        </p:spPr>
        <p:txBody>
          <a:bodyPr wrap="square" lIns="0" tIns="0" rIns="0" bIns="0" rtlCol="0" anchor="t"/>
          <a:lstStyle/>
          <a:p>
            <a:pPr marL="0" indent="0">
              <a:buNone/>
            </a:pPr>
            <a:r>
              <a:rPr lang="en-US" sz="1400" dirty="0">
                <a:solidFill>
                  <a:schemeClr val="tx1"/>
                </a:solidFill>
              </a:rPr>
              <a:t>KT</a:t>
            </a:r>
            <a:r>
              <a:rPr lang="en-US" sz="1400" dirty="0"/>
              <a:t>, </a:t>
            </a:r>
            <a:r>
              <a:rPr lang="en-US" sz="1400" dirty="0">
                <a:solidFill>
                  <a:schemeClr val="tx1"/>
                </a:solidFill>
              </a:rPr>
              <a:t>T</a:t>
            </a:r>
            <a:r>
              <a:rPr lang="en-US" sz="1400" dirty="0"/>
              <a:t>, </a:t>
            </a:r>
            <a:r>
              <a:rPr lang="en-US" sz="1400" dirty="0">
                <a:solidFill>
                  <a:schemeClr val="tx1"/>
                </a:solidFill>
              </a:rPr>
              <a:t>TR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Phân loại rơ le thời gian</a:t>
            </a:r>
            <a:endParaRPr lang="en-US" sz="3000" dirty="0"/>
          </a:p>
        </p:txBody>
      </p:sp>
      <p:sp>
        <p:nvSpPr>
          <p:cNvPr id="3" name="Shape 1"/>
          <p:cNvSpPr/>
          <p:nvPr/>
        </p:nvSpPr>
        <p:spPr>
          <a:xfrm>
            <a:off x="457200" y="1188720"/>
            <a:ext cx="4023360" cy="3200400"/>
          </a:xfrm>
          <a:prstGeom prst="roundRect">
            <a:avLst>
              <a:gd name="adj" fmla="val 2286"/>
            </a:avLst>
          </a:prstGeom>
          <a:solidFill>
            <a:schemeClr val="bg2"/>
          </a:solidFill>
          <a:ln w="12700">
            <a:solidFill>
              <a:schemeClr val="bg2"/>
            </a:solidFill>
            <a:prstDash val="solid"/>
          </a:ln>
        </p:spPr>
        <p:txBody>
          <a:bodyPr/>
          <a:lstStyle/>
          <a:p>
            <a:endParaRPr lang="en-US"/>
          </a:p>
        </p:txBody>
      </p:sp>
      <p:sp>
        <p:nvSpPr>
          <p:cNvPr id="4" name="Text 2"/>
          <p:cNvSpPr txBox="1"/>
          <p:nvPr/>
        </p:nvSpPr>
        <p:spPr>
          <a:xfrm>
            <a:off x="685800" y="1325880"/>
            <a:ext cx="3566160" cy="365760"/>
          </a:xfrm>
          <a:prstGeom prst="rect">
            <a:avLst/>
          </a:prstGeom>
          <a:noFill/>
          <a:ln/>
        </p:spPr>
        <p:txBody>
          <a:bodyPr wrap="square" lIns="0" tIns="0" rIns="0" bIns="0" rtlCol="0" anchor="ctr"/>
          <a:lstStyle/>
          <a:p>
            <a:pPr marL="0" indent="0">
              <a:buNone/>
            </a:pPr>
            <a:r>
              <a:rPr lang="en-US" sz="1600" b="1" dirty="0">
                <a:solidFill>
                  <a:schemeClr val="tx2"/>
                </a:solidFill>
              </a:rPr>
              <a:t>Trễ khi đóng (ON-delay, TON)</a:t>
            </a:r>
            <a:endParaRPr lang="en-US" sz="1600" dirty="0"/>
          </a:p>
        </p:txBody>
      </p:sp>
      <p:sp>
        <p:nvSpPr>
          <p:cNvPr id="5" name="Text 3"/>
          <p:cNvSpPr txBox="1"/>
          <p:nvPr/>
        </p:nvSpPr>
        <p:spPr>
          <a:xfrm>
            <a:off x="685800" y="1737360"/>
            <a:ext cx="356616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Cấp điện cuộn dây: chờ hết thời gian đặt rồi tiếp điểm mới đổi trạng thái</a:t>
            </a:r>
            <a:endParaRPr lang="en-US" sz="1400" dirty="0"/>
          </a:p>
          <a:p>
            <a:pPr marL="342900" indent="-342900">
              <a:spcAft>
                <a:spcPts val="400"/>
              </a:spcAft>
              <a:buSzPct val="100000"/>
              <a:buChar char="•"/>
            </a:pPr>
            <a:r>
              <a:rPr lang="en-US" sz="1400" dirty="0">
                <a:solidFill>
                  <a:schemeClr val="tx1"/>
                </a:solidFill>
              </a:rPr>
              <a:t>Mất điện: tiếp điểm trả về ngay</a:t>
            </a:r>
            <a:endParaRPr lang="en-US" sz="1400" dirty="0"/>
          </a:p>
        </p:txBody>
      </p:sp>
      <p:sp>
        <p:nvSpPr>
          <p:cNvPr id="6" name="Text 4"/>
          <p:cNvSpPr txBox="1"/>
          <p:nvPr/>
        </p:nvSpPr>
        <p:spPr>
          <a:xfrm>
            <a:off x="685800" y="2971800"/>
            <a:ext cx="914400" cy="411480"/>
          </a:xfrm>
          <a:prstGeom prst="rect">
            <a:avLst/>
          </a:prstGeom>
          <a:noFill/>
          <a:ln/>
        </p:spPr>
        <p:txBody>
          <a:bodyPr wrap="square" lIns="0" tIns="0" rIns="0" bIns="0" rtlCol="0" anchor="ctr"/>
          <a:lstStyle/>
          <a:p>
            <a:pPr marL="0" indent="0">
              <a:buNone/>
            </a:pPr>
            <a:r>
              <a:rPr lang="en-US" sz="1100" dirty="0">
                <a:solidFill>
                  <a:schemeClr val="accent5"/>
                </a:solidFill>
              </a:rPr>
              <a:t>Cuộn dây</a:t>
            </a:r>
            <a:endParaRPr lang="en-US" sz="1100" dirty="0"/>
          </a:p>
        </p:txBody>
      </p:sp>
      <p:sp>
        <p:nvSpPr>
          <p:cNvPr id="7" name="Text 5"/>
          <p:cNvSpPr txBox="1"/>
          <p:nvPr/>
        </p:nvSpPr>
        <p:spPr>
          <a:xfrm>
            <a:off x="685800" y="3566160"/>
            <a:ext cx="914400" cy="411480"/>
          </a:xfrm>
          <a:prstGeom prst="rect">
            <a:avLst/>
          </a:prstGeom>
          <a:noFill/>
          <a:ln/>
        </p:spPr>
        <p:txBody>
          <a:bodyPr wrap="square" lIns="0" tIns="0" rIns="0" bIns="0" rtlCol="0" anchor="ctr"/>
          <a:lstStyle/>
          <a:p>
            <a:pPr marL="0" indent="0">
              <a:buNone/>
            </a:pPr>
            <a:r>
              <a:rPr lang="en-US" sz="1100" dirty="0">
                <a:solidFill>
                  <a:schemeClr val="accent5"/>
                </a:solidFill>
              </a:rPr>
              <a:t>Tiếp điểm</a:t>
            </a:r>
            <a:endParaRPr lang="en-US" sz="1100" dirty="0"/>
          </a:p>
        </p:txBody>
      </p:sp>
      <p:sp>
        <p:nvSpPr>
          <p:cNvPr id="8" name="Shape 6"/>
          <p:cNvSpPr/>
          <p:nvPr/>
        </p:nvSpPr>
        <p:spPr>
          <a:xfrm>
            <a:off x="1691640" y="3383280"/>
            <a:ext cx="365760" cy="0"/>
          </a:xfrm>
          <a:prstGeom prst="line">
            <a:avLst/>
          </a:prstGeom>
          <a:noFill/>
          <a:ln w="28575">
            <a:solidFill>
              <a:schemeClr val="accent2"/>
            </a:solidFill>
            <a:prstDash val="solid"/>
          </a:ln>
        </p:spPr>
        <p:txBody>
          <a:bodyPr/>
          <a:lstStyle/>
          <a:p>
            <a:endParaRPr lang="en-US"/>
          </a:p>
        </p:txBody>
      </p:sp>
      <p:sp>
        <p:nvSpPr>
          <p:cNvPr id="9" name="Shape 7"/>
          <p:cNvSpPr/>
          <p:nvPr/>
        </p:nvSpPr>
        <p:spPr>
          <a:xfrm>
            <a:off x="2057400" y="2971800"/>
            <a:ext cx="0" cy="411480"/>
          </a:xfrm>
          <a:prstGeom prst="line">
            <a:avLst/>
          </a:prstGeom>
          <a:noFill/>
          <a:ln w="28575">
            <a:solidFill>
              <a:schemeClr val="accent2"/>
            </a:solidFill>
            <a:prstDash val="solid"/>
          </a:ln>
        </p:spPr>
        <p:txBody>
          <a:bodyPr/>
          <a:lstStyle/>
          <a:p>
            <a:endParaRPr lang="en-US"/>
          </a:p>
        </p:txBody>
      </p:sp>
      <p:sp>
        <p:nvSpPr>
          <p:cNvPr id="10" name="Shape 8"/>
          <p:cNvSpPr/>
          <p:nvPr/>
        </p:nvSpPr>
        <p:spPr>
          <a:xfrm>
            <a:off x="2057400" y="2971800"/>
            <a:ext cx="1097280" cy="0"/>
          </a:xfrm>
          <a:prstGeom prst="line">
            <a:avLst/>
          </a:prstGeom>
          <a:noFill/>
          <a:ln w="28575">
            <a:solidFill>
              <a:schemeClr val="accent2"/>
            </a:solidFill>
            <a:prstDash val="solid"/>
          </a:ln>
        </p:spPr>
        <p:txBody>
          <a:bodyPr/>
          <a:lstStyle/>
          <a:p>
            <a:endParaRPr lang="en-US"/>
          </a:p>
        </p:txBody>
      </p:sp>
      <p:sp>
        <p:nvSpPr>
          <p:cNvPr id="11" name="Shape 9"/>
          <p:cNvSpPr/>
          <p:nvPr/>
        </p:nvSpPr>
        <p:spPr>
          <a:xfrm>
            <a:off x="3154680" y="2971800"/>
            <a:ext cx="0" cy="411480"/>
          </a:xfrm>
          <a:prstGeom prst="line">
            <a:avLst/>
          </a:prstGeom>
          <a:noFill/>
          <a:ln w="28575">
            <a:solidFill>
              <a:schemeClr val="accent2"/>
            </a:solidFill>
            <a:prstDash val="solid"/>
          </a:ln>
        </p:spPr>
        <p:txBody>
          <a:bodyPr/>
          <a:lstStyle/>
          <a:p>
            <a:endParaRPr lang="en-US"/>
          </a:p>
        </p:txBody>
      </p:sp>
      <p:sp>
        <p:nvSpPr>
          <p:cNvPr id="12" name="Shape 10"/>
          <p:cNvSpPr/>
          <p:nvPr/>
        </p:nvSpPr>
        <p:spPr>
          <a:xfrm>
            <a:off x="3154680" y="3383280"/>
            <a:ext cx="1097280" cy="0"/>
          </a:xfrm>
          <a:prstGeom prst="line">
            <a:avLst/>
          </a:prstGeom>
          <a:noFill/>
          <a:ln w="28575">
            <a:solidFill>
              <a:schemeClr val="accent2"/>
            </a:solidFill>
            <a:prstDash val="solid"/>
          </a:ln>
        </p:spPr>
        <p:txBody>
          <a:bodyPr/>
          <a:lstStyle/>
          <a:p>
            <a:endParaRPr lang="en-US"/>
          </a:p>
        </p:txBody>
      </p:sp>
      <p:sp>
        <p:nvSpPr>
          <p:cNvPr id="13" name="Shape 11"/>
          <p:cNvSpPr/>
          <p:nvPr/>
        </p:nvSpPr>
        <p:spPr>
          <a:xfrm>
            <a:off x="1691640" y="3977640"/>
            <a:ext cx="1188720" cy="0"/>
          </a:xfrm>
          <a:prstGeom prst="line">
            <a:avLst/>
          </a:prstGeom>
          <a:noFill/>
          <a:ln w="28575">
            <a:solidFill>
              <a:schemeClr val="accent3"/>
            </a:solidFill>
            <a:prstDash val="solid"/>
          </a:ln>
        </p:spPr>
        <p:txBody>
          <a:bodyPr/>
          <a:lstStyle/>
          <a:p>
            <a:endParaRPr lang="en-US"/>
          </a:p>
        </p:txBody>
      </p:sp>
      <p:sp>
        <p:nvSpPr>
          <p:cNvPr id="14" name="Shape 12"/>
          <p:cNvSpPr/>
          <p:nvPr/>
        </p:nvSpPr>
        <p:spPr>
          <a:xfrm>
            <a:off x="2880360" y="3566160"/>
            <a:ext cx="0" cy="411480"/>
          </a:xfrm>
          <a:prstGeom prst="line">
            <a:avLst/>
          </a:prstGeom>
          <a:noFill/>
          <a:ln w="28575">
            <a:solidFill>
              <a:schemeClr val="accent3"/>
            </a:solidFill>
            <a:prstDash val="solid"/>
          </a:ln>
        </p:spPr>
        <p:txBody>
          <a:bodyPr/>
          <a:lstStyle/>
          <a:p>
            <a:endParaRPr lang="en-US"/>
          </a:p>
        </p:txBody>
      </p:sp>
      <p:sp>
        <p:nvSpPr>
          <p:cNvPr id="15" name="Shape 13"/>
          <p:cNvSpPr/>
          <p:nvPr/>
        </p:nvSpPr>
        <p:spPr>
          <a:xfrm>
            <a:off x="2880360" y="3566160"/>
            <a:ext cx="274320" cy="0"/>
          </a:xfrm>
          <a:prstGeom prst="line">
            <a:avLst/>
          </a:prstGeom>
          <a:noFill/>
          <a:ln w="28575">
            <a:solidFill>
              <a:schemeClr val="accent3"/>
            </a:solidFill>
            <a:prstDash val="solid"/>
          </a:ln>
        </p:spPr>
        <p:txBody>
          <a:bodyPr/>
          <a:lstStyle/>
          <a:p>
            <a:endParaRPr lang="en-US"/>
          </a:p>
        </p:txBody>
      </p:sp>
      <p:sp>
        <p:nvSpPr>
          <p:cNvPr id="16" name="Shape 14"/>
          <p:cNvSpPr/>
          <p:nvPr/>
        </p:nvSpPr>
        <p:spPr>
          <a:xfrm>
            <a:off x="3154680" y="3566160"/>
            <a:ext cx="0" cy="411480"/>
          </a:xfrm>
          <a:prstGeom prst="line">
            <a:avLst/>
          </a:prstGeom>
          <a:noFill/>
          <a:ln w="28575">
            <a:solidFill>
              <a:schemeClr val="accent3"/>
            </a:solidFill>
            <a:prstDash val="solid"/>
          </a:ln>
        </p:spPr>
        <p:txBody>
          <a:bodyPr/>
          <a:lstStyle/>
          <a:p>
            <a:endParaRPr lang="en-US"/>
          </a:p>
        </p:txBody>
      </p:sp>
      <p:sp>
        <p:nvSpPr>
          <p:cNvPr id="17" name="Shape 15"/>
          <p:cNvSpPr/>
          <p:nvPr/>
        </p:nvSpPr>
        <p:spPr>
          <a:xfrm>
            <a:off x="3154680" y="3977640"/>
            <a:ext cx="1097280" cy="0"/>
          </a:xfrm>
          <a:prstGeom prst="line">
            <a:avLst/>
          </a:prstGeom>
          <a:noFill/>
          <a:ln w="28575">
            <a:solidFill>
              <a:schemeClr val="accent3"/>
            </a:solidFill>
            <a:prstDash val="solid"/>
          </a:ln>
        </p:spPr>
        <p:txBody>
          <a:bodyPr/>
          <a:lstStyle/>
          <a:p>
            <a:endParaRPr lang="en-US"/>
          </a:p>
        </p:txBody>
      </p:sp>
      <p:sp>
        <p:nvSpPr>
          <p:cNvPr id="18" name="Text 16"/>
          <p:cNvSpPr txBox="1"/>
          <p:nvPr/>
        </p:nvSpPr>
        <p:spPr>
          <a:xfrm>
            <a:off x="2057400" y="4005072"/>
            <a:ext cx="1463040" cy="228600"/>
          </a:xfrm>
          <a:prstGeom prst="rect">
            <a:avLst/>
          </a:prstGeom>
          <a:noFill/>
          <a:ln/>
        </p:spPr>
        <p:txBody>
          <a:bodyPr wrap="square" lIns="0" tIns="0" rIns="0" bIns="0" rtlCol="0" anchor="t"/>
          <a:lstStyle/>
          <a:p>
            <a:pPr marL="0" indent="0">
              <a:buNone/>
            </a:pPr>
            <a:r>
              <a:rPr lang="en-US" sz="1000" dirty="0">
                <a:solidFill>
                  <a:schemeClr val="accent5"/>
                </a:solidFill>
              </a:rPr>
              <a:t>t (thời gian trễ)</a:t>
            </a:r>
            <a:endParaRPr lang="en-US" sz="1000" dirty="0"/>
          </a:p>
        </p:txBody>
      </p:sp>
      <p:sp>
        <p:nvSpPr>
          <p:cNvPr id="19" name="Shape 17"/>
          <p:cNvSpPr/>
          <p:nvPr/>
        </p:nvSpPr>
        <p:spPr>
          <a:xfrm>
            <a:off x="4663440" y="1188720"/>
            <a:ext cx="4023360" cy="3200400"/>
          </a:xfrm>
          <a:prstGeom prst="roundRect">
            <a:avLst>
              <a:gd name="adj" fmla="val 2286"/>
            </a:avLst>
          </a:prstGeom>
          <a:solidFill>
            <a:schemeClr val="bg2"/>
          </a:solidFill>
          <a:ln w="12700">
            <a:solidFill>
              <a:schemeClr val="bg2"/>
            </a:solidFill>
            <a:prstDash val="solid"/>
          </a:ln>
        </p:spPr>
        <p:txBody>
          <a:bodyPr/>
          <a:lstStyle/>
          <a:p>
            <a:endParaRPr lang="en-US"/>
          </a:p>
        </p:txBody>
      </p:sp>
      <p:sp>
        <p:nvSpPr>
          <p:cNvPr id="20" name="Text 18"/>
          <p:cNvSpPr txBox="1"/>
          <p:nvPr/>
        </p:nvSpPr>
        <p:spPr>
          <a:xfrm>
            <a:off x="4892040" y="1325880"/>
            <a:ext cx="3566160" cy="365760"/>
          </a:xfrm>
          <a:prstGeom prst="rect">
            <a:avLst/>
          </a:prstGeom>
          <a:noFill/>
          <a:ln/>
        </p:spPr>
        <p:txBody>
          <a:bodyPr wrap="square" lIns="0" tIns="0" rIns="0" bIns="0" rtlCol="0" anchor="ctr"/>
          <a:lstStyle/>
          <a:p>
            <a:pPr marL="0" indent="0">
              <a:buNone/>
            </a:pPr>
            <a:r>
              <a:rPr lang="en-US" sz="1600" b="1" dirty="0">
                <a:solidFill>
                  <a:schemeClr val="tx2"/>
                </a:solidFill>
              </a:rPr>
              <a:t>Trễ khi ngắt (OFF-delay, TOF)</a:t>
            </a:r>
            <a:endParaRPr lang="en-US" sz="1600" dirty="0"/>
          </a:p>
        </p:txBody>
      </p:sp>
      <p:sp>
        <p:nvSpPr>
          <p:cNvPr id="21" name="Text 19"/>
          <p:cNvSpPr txBox="1"/>
          <p:nvPr/>
        </p:nvSpPr>
        <p:spPr>
          <a:xfrm>
            <a:off x="4892040" y="1737360"/>
            <a:ext cx="356616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Cấp điện cuộn dây: tiếp điểm đổi trạng thái ngay</a:t>
            </a:r>
            <a:endParaRPr lang="en-US" sz="1400" dirty="0"/>
          </a:p>
          <a:p>
            <a:pPr marL="342900" indent="-342900">
              <a:spcAft>
                <a:spcPts val="400"/>
              </a:spcAft>
              <a:buSzPct val="100000"/>
              <a:buChar char="•"/>
            </a:pPr>
            <a:r>
              <a:rPr lang="en-US" sz="1400" dirty="0">
                <a:solidFill>
                  <a:schemeClr val="tx1"/>
                </a:solidFill>
              </a:rPr>
              <a:t>Mất điện: chờ hết thời gian đặt rồi tiếp điểm mới trả về</a:t>
            </a:r>
            <a:endParaRPr lang="en-US" sz="1400" dirty="0"/>
          </a:p>
        </p:txBody>
      </p:sp>
      <p:sp>
        <p:nvSpPr>
          <p:cNvPr id="22" name="Text 20"/>
          <p:cNvSpPr txBox="1"/>
          <p:nvPr/>
        </p:nvSpPr>
        <p:spPr>
          <a:xfrm>
            <a:off x="4892040" y="2971800"/>
            <a:ext cx="914400" cy="411480"/>
          </a:xfrm>
          <a:prstGeom prst="rect">
            <a:avLst/>
          </a:prstGeom>
          <a:noFill/>
          <a:ln/>
        </p:spPr>
        <p:txBody>
          <a:bodyPr wrap="square" lIns="0" tIns="0" rIns="0" bIns="0" rtlCol="0" anchor="ctr"/>
          <a:lstStyle/>
          <a:p>
            <a:pPr marL="0" indent="0">
              <a:buNone/>
            </a:pPr>
            <a:r>
              <a:rPr lang="en-US" sz="1100" dirty="0">
                <a:solidFill>
                  <a:schemeClr val="accent5"/>
                </a:solidFill>
              </a:rPr>
              <a:t>Cuộn dây</a:t>
            </a:r>
            <a:endParaRPr lang="en-US" sz="1100" dirty="0"/>
          </a:p>
        </p:txBody>
      </p:sp>
      <p:sp>
        <p:nvSpPr>
          <p:cNvPr id="23" name="Text 21"/>
          <p:cNvSpPr txBox="1"/>
          <p:nvPr/>
        </p:nvSpPr>
        <p:spPr>
          <a:xfrm>
            <a:off x="4892040" y="3566160"/>
            <a:ext cx="914400" cy="411480"/>
          </a:xfrm>
          <a:prstGeom prst="rect">
            <a:avLst/>
          </a:prstGeom>
          <a:noFill/>
          <a:ln/>
        </p:spPr>
        <p:txBody>
          <a:bodyPr wrap="square" lIns="0" tIns="0" rIns="0" bIns="0" rtlCol="0" anchor="ctr"/>
          <a:lstStyle/>
          <a:p>
            <a:pPr marL="0" indent="0">
              <a:buNone/>
            </a:pPr>
            <a:r>
              <a:rPr lang="en-US" sz="1100" dirty="0">
                <a:solidFill>
                  <a:schemeClr val="accent5"/>
                </a:solidFill>
              </a:rPr>
              <a:t>Tiếp điểm</a:t>
            </a:r>
            <a:endParaRPr lang="en-US" sz="1100" dirty="0"/>
          </a:p>
        </p:txBody>
      </p:sp>
      <p:sp>
        <p:nvSpPr>
          <p:cNvPr id="24" name="Shape 22"/>
          <p:cNvSpPr/>
          <p:nvPr/>
        </p:nvSpPr>
        <p:spPr>
          <a:xfrm>
            <a:off x="5897880" y="3383280"/>
            <a:ext cx="365760" cy="0"/>
          </a:xfrm>
          <a:prstGeom prst="line">
            <a:avLst/>
          </a:prstGeom>
          <a:noFill/>
          <a:ln w="28575">
            <a:solidFill>
              <a:schemeClr val="accent2"/>
            </a:solidFill>
            <a:prstDash val="solid"/>
          </a:ln>
        </p:spPr>
        <p:txBody>
          <a:bodyPr/>
          <a:lstStyle/>
          <a:p>
            <a:endParaRPr lang="en-US"/>
          </a:p>
        </p:txBody>
      </p:sp>
      <p:sp>
        <p:nvSpPr>
          <p:cNvPr id="25" name="Shape 23"/>
          <p:cNvSpPr/>
          <p:nvPr/>
        </p:nvSpPr>
        <p:spPr>
          <a:xfrm>
            <a:off x="6263640" y="2971800"/>
            <a:ext cx="0" cy="411480"/>
          </a:xfrm>
          <a:prstGeom prst="line">
            <a:avLst/>
          </a:prstGeom>
          <a:noFill/>
          <a:ln w="28575">
            <a:solidFill>
              <a:schemeClr val="accent2"/>
            </a:solidFill>
            <a:prstDash val="solid"/>
          </a:ln>
        </p:spPr>
        <p:txBody>
          <a:bodyPr/>
          <a:lstStyle/>
          <a:p>
            <a:endParaRPr lang="en-US"/>
          </a:p>
        </p:txBody>
      </p:sp>
      <p:sp>
        <p:nvSpPr>
          <p:cNvPr id="26" name="Shape 24"/>
          <p:cNvSpPr/>
          <p:nvPr/>
        </p:nvSpPr>
        <p:spPr>
          <a:xfrm>
            <a:off x="6263640" y="2971800"/>
            <a:ext cx="1097280" cy="0"/>
          </a:xfrm>
          <a:prstGeom prst="line">
            <a:avLst/>
          </a:prstGeom>
          <a:noFill/>
          <a:ln w="28575">
            <a:solidFill>
              <a:schemeClr val="accent2"/>
            </a:solidFill>
            <a:prstDash val="solid"/>
          </a:ln>
        </p:spPr>
        <p:txBody>
          <a:bodyPr/>
          <a:lstStyle/>
          <a:p>
            <a:endParaRPr lang="en-US"/>
          </a:p>
        </p:txBody>
      </p:sp>
      <p:sp>
        <p:nvSpPr>
          <p:cNvPr id="27" name="Shape 25"/>
          <p:cNvSpPr/>
          <p:nvPr/>
        </p:nvSpPr>
        <p:spPr>
          <a:xfrm>
            <a:off x="7360920" y="2971800"/>
            <a:ext cx="0" cy="411480"/>
          </a:xfrm>
          <a:prstGeom prst="line">
            <a:avLst/>
          </a:prstGeom>
          <a:noFill/>
          <a:ln w="28575">
            <a:solidFill>
              <a:schemeClr val="accent2"/>
            </a:solidFill>
            <a:prstDash val="solid"/>
          </a:ln>
        </p:spPr>
        <p:txBody>
          <a:bodyPr/>
          <a:lstStyle/>
          <a:p>
            <a:endParaRPr lang="en-US"/>
          </a:p>
        </p:txBody>
      </p:sp>
      <p:sp>
        <p:nvSpPr>
          <p:cNvPr id="28" name="Shape 26"/>
          <p:cNvSpPr/>
          <p:nvPr/>
        </p:nvSpPr>
        <p:spPr>
          <a:xfrm>
            <a:off x="7360920" y="3383280"/>
            <a:ext cx="1097280" cy="0"/>
          </a:xfrm>
          <a:prstGeom prst="line">
            <a:avLst/>
          </a:prstGeom>
          <a:noFill/>
          <a:ln w="28575">
            <a:solidFill>
              <a:schemeClr val="accent2"/>
            </a:solidFill>
            <a:prstDash val="solid"/>
          </a:ln>
        </p:spPr>
        <p:txBody>
          <a:bodyPr/>
          <a:lstStyle/>
          <a:p>
            <a:endParaRPr lang="en-US"/>
          </a:p>
        </p:txBody>
      </p:sp>
      <p:sp>
        <p:nvSpPr>
          <p:cNvPr id="29" name="Shape 27"/>
          <p:cNvSpPr/>
          <p:nvPr/>
        </p:nvSpPr>
        <p:spPr>
          <a:xfrm>
            <a:off x="5897880" y="3977640"/>
            <a:ext cx="365760" cy="0"/>
          </a:xfrm>
          <a:prstGeom prst="line">
            <a:avLst/>
          </a:prstGeom>
          <a:noFill/>
          <a:ln w="28575">
            <a:solidFill>
              <a:schemeClr val="accent3"/>
            </a:solidFill>
            <a:prstDash val="solid"/>
          </a:ln>
        </p:spPr>
        <p:txBody>
          <a:bodyPr/>
          <a:lstStyle/>
          <a:p>
            <a:endParaRPr lang="en-US"/>
          </a:p>
        </p:txBody>
      </p:sp>
      <p:sp>
        <p:nvSpPr>
          <p:cNvPr id="30" name="Shape 28"/>
          <p:cNvSpPr/>
          <p:nvPr/>
        </p:nvSpPr>
        <p:spPr>
          <a:xfrm>
            <a:off x="6263640" y="3566160"/>
            <a:ext cx="0" cy="411480"/>
          </a:xfrm>
          <a:prstGeom prst="line">
            <a:avLst/>
          </a:prstGeom>
          <a:noFill/>
          <a:ln w="28575">
            <a:solidFill>
              <a:schemeClr val="accent3"/>
            </a:solidFill>
            <a:prstDash val="solid"/>
          </a:ln>
        </p:spPr>
        <p:txBody>
          <a:bodyPr/>
          <a:lstStyle/>
          <a:p>
            <a:endParaRPr lang="en-US"/>
          </a:p>
        </p:txBody>
      </p:sp>
      <p:sp>
        <p:nvSpPr>
          <p:cNvPr id="31" name="Shape 29"/>
          <p:cNvSpPr/>
          <p:nvPr/>
        </p:nvSpPr>
        <p:spPr>
          <a:xfrm>
            <a:off x="6263640" y="3566160"/>
            <a:ext cx="1920240" cy="0"/>
          </a:xfrm>
          <a:prstGeom prst="line">
            <a:avLst/>
          </a:prstGeom>
          <a:noFill/>
          <a:ln w="28575">
            <a:solidFill>
              <a:schemeClr val="accent3"/>
            </a:solidFill>
            <a:prstDash val="solid"/>
          </a:ln>
        </p:spPr>
        <p:txBody>
          <a:bodyPr/>
          <a:lstStyle/>
          <a:p>
            <a:endParaRPr lang="en-US"/>
          </a:p>
        </p:txBody>
      </p:sp>
      <p:sp>
        <p:nvSpPr>
          <p:cNvPr id="32" name="Shape 30"/>
          <p:cNvSpPr/>
          <p:nvPr/>
        </p:nvSpPr>
        <p:spPr>
          <a:xfrm>
            <a:off x="8183880" y="3566160"/>
            <a:ext cx="0" cy="411480"/>
          </a:xfrm>
          <a:prstGeom prst="line">
            <a:avLst/>
          </a:prstGeom>
          <a:noFill/>
          <a:ln w="28575">
            <a:solidFill>
              <a:schemeClr val="accent3"/>
            </a:solidFill>
            <a:prstDash val="solid"/>
          </a:ln>
        </p:spPr>
        <p:txBody>
          <a:bodyPr/>
          <a:lstStyle/>
          <a:p>
            <a:endParaRPr lang="en-US"/>
          </a:p>
        </p:txBody>
      </p:sp>
      <p:sp>
        <p:nvSpPr>
          <p:cNvPr id="33" name="Shape 31"/>
          <p:cNvSpPr/>
          <p:nvPr/>
        </p:nvSpPr>
        <p:spPr>
          <a:xfrm>
            <a:off x="8183880" y="3977640"/>
            <a:ext cx="274320" cy="0"/>
          </a:xfrm>
          <a:prstGeom prst="line">
            <a:avLst/>
          </a:prstGeom>
          <a:noFill/>
          <a:ln w="28575">
            <a:solidFill>
              <a:schemeClr val="accent3"/>
            </a:solidFill>
            <a:prstDash val="solid"/>
          </a:ln>
        </p:spPr>
        <p:txBody>
          <a:bodyPr/>
          <a:lstStyle/>
          <a:p>
            <a:endParaRPr lang="en-US"/>
          </a:p>
        </p:txBody>
      </p:sp>
      <p:sp>
        <p:nvSpPr>
          <p:cNvPr id="34" name="Text 32"/>
          <p:cNvSpPr txBox="1"/>
          <p:nvPr/>
        </p:nvSpPr>
        <p:spPr>
          <a:xfrm>
            <a:off x="7360920" y="4005072"/>
            <a:ext cx="1463040" cy="228600"/>
          </a:xfrm>
          <a:prstGeom prst="rect">
            <a:avLst/>
          </a:prstGeom>
          <a:noFill/>
          <a:ln/>
        </p:spPr>
        <p:txBody>
          <a:bodyPr wrap="square" lIns="0" tIns="0" rIns="0" bIns="0" rtlCol="0" anchor="t"/>
          <a:lstStyle/>
          <a:p>
            <a:pPr marL="0" indent="0">
              <a:buNone/>
            </a:pPr>
            <a:r>
              <a:rPr lang="en-US" sz="1000" dirty="0">
                <a:solidFill>
                  <a:schemeClr val="accent5"/>
                </a:solidFill>
              </a:rPr>
              <a:t>t (thời gian trễ)</a:t>
            </a:r>
            <a:endParaRPr lang="en-US" sz="1000" dirty="0"/>
          </a:p>
        </p:txBody>
      </p:sp>
      <p:sp>
        <p:nvSpPr>
          <p:cNvPr id="35" name="Text 33"/>
          <p:cNvSpPr txBox="1"/>
          <p:nvPr/>
        </p:nvSpPr>
        <p:spPr>
          <a:xfrm>
            <a:off x="457200" y="4526280"/>
            <a:ext cx="7680960" cy="274320"/>
          </a:xfrm>
          <a:prstGeom prst="rect">
            <a:avLst/>
          </a:prstGeom>
          <a:noFill/>
          <a:ln/>
        </p:spPr>
        <p:txBody>
          <a:bodyPr wrap="square" lIns="0" tIns="0" rIns="0" bIns="0" rtlCol="0" anchor="t"/>
          <a:lstStyle/>
          <a:p>
            <a:pPr marL="0" indent="0">
              <a:buNone/>
            </a:pPr>
            <a:r>
              <a:rPr lang="en-US" sz="1200" dirty="0">
                <a:solidFill>
                  <a:schemeClr val="accent5"/>
                </a:solidFill>
              </a:rPr>
              <a:t>Theo nguyên lý: điện từ, khí nén, động cơ, điện tử (phổ biến nhất hiện nay)</a:t>
            </a:r>
            <a:endParaRPr lang="en-US" sz="1200" dirty="0"/>
          </a:p>
        </p:txBody>
      </p:sp>
      <p:sp>
        <p:nvSpPr>
          <p:cNvPr id="3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Thông số khi chọn rơ le thời gian</a:t>
            </a:r>
            <a:endParaRPr lang="en-US" sz="3000" dirty="0"/>
          </a:p>
        </p:txBody>
      </p:sp>
      <p:sp>
        <p:nvSpPr>
          <p:cNvPr id="3" name="Shape 1"/>
          <p:cNvSpPr/>
          <p:nvPr/>
        </p:nvSpPr>
        <p:spPr>
          <a:xfrm>
            <a:off x="457200" y="1280160"/>
            <a:ext cx="2651760" cy="1463040"/>
          </a:xfrm>
          <a:prstGeom prst="roundRect">
            <a:avLst>
              <a:gd name="adj" fmla="val 5000"/>
            </a:avLst>
          </a:prstGeom>
          <a:solidFill>
            <a:schemeClr val="tx2"/>
          </a:solidFill>
          <a:ln w="12700">
            <a:solidFill>
              <a:schemeClr val="tx2"/>
            </a:solidFill>
            <a:prstDash val="solid"/>
          </a:ln>
        </p:spPr>
        <p:txBody>
          <a:bodyPr/>
          <a:lstStyle/>
          <a:p>
            <a:endParaRPr lang="en-US"/>
          </a:p>
        </p:txBody>
      </p:sp>
      <p:sp>
        <p:nvSpPr>
          <p:cNvPr id="4" name="Text 2"/>
          <p:cNvSpPr txBox="1"/>
          <p:nvPr/>
        </p:nvSpPr>
        <p:spPr>
          <a:xfrm>
            <a:off x="640080" y="1463040"/>
            <a:ext cx="2286000" cy="365760"/>
          </a:xfrm>
          <a:prstGeom prst="rect">
            <a:avLst/>
          </a:prstGeom>
          <a:noFill/>
          <a:ln/>
        </p:spPr>
        <p:txBody>
          <a:bodyPr wrap="square" lIns="0" tIns="0" rIns="0" bIns="0" rtlCol="0" anchor="ctr"/>
          <a:lstStyle/>
          <a:p>
            <a:pPr marL="0" indent="0">
              <a:buNone/>
            </a:pPr>
            <a:r>
              <a:rPr lang="en-US" sz="1600" b="1" dirty="0">
                <a:solidFill>
                  <a:schemeClr val="accent1"/>
                </a:solidFill>
              </a:rPr>
              <a:t>Điện áp cuộn dây</a:t>
            </a:r>
            <a:endParaRPr lang="en-US" sz="1600" dirty="0"/>
          </a:p>
        </p:txBody>
      </p:sp>
      <p:sp>
        <p:nvSpPr>
          <p:cNvPr id="5" name="Text 3"/>
          <p:cNvSpPr txBox="1"/>
          <p:nvPr/>
        </p:nvSpPr>
        <p:spPr>
          <a:xfrm>
            <a:off x="640080" y="1965960"/>
            <a:ext cx="2286000" cy="640080"/>
          </a:xfrm>
          <a:prstGeom prst="rect">
            <a:avLst/>
          </a:prstGeom>
          <a:noFill/>
          <a:ln/>
        </p:spPr>
        <p:txBody>
          <a:bodyPr wrap="square" lIns="0" tIns="0" rIns="0" bIns="0" rtlCol="0" anchor="t"/>
          <a:lstStyle/>
          <a:p>
            <a:pPr marL="0" indent="0">
              <a:buNone/>
            </a:pPr>
            <a:r>
              <a:rPr lang="en-US" sz="1400" dirty="0">
                <a:solidFill>
                  <a:schemeClr val="bg1"/>
                </a:solidFill>
              </a:rPr>
              <a:t>24VDC, 24VAC, 110VAC, 220VAC</a:t>
            </a:r>
            <a:endParaRPr lang="en-US" sz="1400" dirty="0"/>
          </a:p>
        </p:txBody>
      </p:sp>
      <p:sp>
        <p:nvSpPr>
          <p:cNvPr id="6" name="Shape 4"/>
          <p:cNvSpPr/>
          <p:nvPr/>
        </p:nvSpPr>
        <p:spPr>
          <a:xfrm>
            <a:off x="3246120" y="1280160"/>
            <a:ext cx="2651760" cy="1463040"/>
          </a:xfrm>
          <a:prstGeom prst="roundRect">
            <a:avLst>
              <a:gd name="adj" fmla="val 5000"/>
            </a:avLst>
          </a:prstGeom>
          <a:solidFill>
            <a:schemeClr val="tx2"/>
          </a:solidFill>
          <a:ln w="12700">
            <a:solidFill>
              <a:schemeClr val="tx2"/>
            </a:solidFill>
            <a:prstDash val="solid"/>
          </a:ln>
        </p:spPr>
        <p:txBody>
          <a:bodyPr/>
          <a:lstStyle/>
          <a:p>
            <a:endParaRPr lang="en-US"/>
          </a:p>
        </p:txBody>
      </p:sp>
      <p:sp>
        <p:nvSpPr>
          <p:cNvPr id="7" name="Text 5"/>
          <p:cNvSpPr txBox="1"/>
          <p:nvPr/>
        </p:nvSpPr>
        <p:spPr>
          <a:xfrm>
            <a:off x="3429000" y="1463040"/>
            <a:ext cx="2286000" cy="365760"/>
          </a:xfrm>
          <a:prstGeom prst="rect">
            <a:avLst/>
          </a:prstGeom>
          <a:noFill/>
          <a:ln/>
        </p:spPr>
        <p:txBody>
          <a:bodyPr wrap="square" lIns="0" tIns="0" rIns="0" bIns="0" rtlCol="0" anchor="ctr"/>
          <a:lstStyle/>
          <a:p>
            <a:pPr marL="0" indent="0">
              <a:buNone/>
            </a:pPr>
            <a:r>
              <a:rPr lang="en-US" sz="1600" b="1" dirty="0">
                <a:solidFill>
                  <a:schemeClr val="accent1"/>
                </a:solidFill>
              </a:rPr>
              <a:t>Dải thời gian</a:t>
            </a:r>
            <a:endParaRPr lang="en-US" sz="1600" dirty="0"/>
          </a:p>
        </p:txBody>
      </p:sp>
      <p:sp>
        <p:nvSpPr>
          <p:cNvPr id="8" name="Text 6"/>
          <p:cNvSpPr txBox="1"/>
          <p:nvPr/>
        </p:nvSpPr>
        <p:spPr>
          <a:xfrm>
            <a:off x="3429000" y="1965960"/>
            <a:ext cx="2286000" cy="640080"/>
          </a:xfrm>
          <a:prstGeom prst="rect">
            <a:avLst/>
          </a:prstGeom>
          <a:noFill/>
          <a:ln/>
        </p:spPr>
        <p:txBody>
          <a:bodyPr wrap="square" lIns="0" tIns="0" rIns="0" bIns="0" rtlCol="0" anchor="t"/>
          <a:lstStyle/>
          <a:p>
            <a:pPr marL="0" indent="0">
              <a:buNone/>
            </a:pPr>
            <a:r>
              <a:rPr lang="en-US" sz="1400" dirty="0">
                <a:solidFill>
                  <a:schemeClr val="bg1"/>
                </a:solidFill>
              </a:rPr>
              <a:t>0-10 giây, 0-60 giây, 0-10 phút</a:t>
            </a:r>
            <a:endParaRPr lang="en-US" sz="1400" dirty="0"/>
          </a:p>
        </p:txBody>
      </p:sp>
      <p:sp>
        <p:nvSpPr>
          <p:cNvPr id="9" name="Shape 7"/>
          <p:cNvSpPr/>
          <p:nvPr/>
        </p:nvSpPr>
        <p:spPr>
          <a:xfrm>
            <a:off x="6035040" y="1280160"/>
            <a:ext cx="26517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6217920" y="1463040"/>
            <a:ext cx="2286000" cy="365760"/>
          </a:xfrm>
          <a:prstGeom prst="rect">
            <a:avLst/>
          </a:prstGeom>
          <a:noFill/>
          <a:ln/>
        </p:spPr>
        <p:txBody>
          <a:bodyPr wrap="square" lIns="0" tIns="0" rIns="0" bIns="0" rtlCol="0" anchor="ctr"/>
          <a:lstStyle/>
          <a:p>
            <a:pPr marL="0" indent="0">
              <a:buNone/>
            </a:pPr>
            <a:r>
              <a:rPr lang="en-US" sz="1600" b="1" dirty="0">
                <a:solidFill>
                  <a:schemeClr val="tx2"/>
                </a:solidFill>
              </a:rPr>
              <a:t>Kiểu trễ</a:t>
            </a:r>
            <a:endParaRPr lang="en-US" sz="1600" dirty="0"/>
          </a:p>
        </p:txBody>
      </p:sp>
      <p:sp>
        <p:nvSpPr>
          <p:cNvPr id="11" name="Text 9"/>
          <p:cNvSpPr txBox="1"/>
          <p:nvPr/>
        </p:nvSpPr>
        <p:spPr>
          <a:xfrm>
            <a:off x="6217920" y="1965960"/>
            <a:ext cx="2286000" cy="640080"/>
          </a:xfrm>
          <a:prstGeom prst="rect">
            <a:avLst/>
          </a:prstGeom>
          <a:noFill/>
          <a:ln/>
        </p:spPr>
        <p:txBody>
          <a:bodyPr wrap="square" lIns="0" tIns="0" rIns="0" bIns="0" rtlCol="0" anchor="t"/>
          <a:lstStyle/>
          <a:p>
            <a:pPr marL="0" indent="0">
              <a:buNone/>
            </a:pPr>
            <a:r>
              <a:rPr lang="en-US" sz="1400" dirty="0">
                <a:solidFill>
                  <a:schemeClr val="tx1"/>
                </a:solidFill>
              </a:rPr>
              <a:t>ON-delay hoặc OFF-delay</a:t>
            </a:r>
            <a:endParaRPr lang="en-US" sz="1400" dirty="0"/>
          </a:p>
        </p:txBody>
      </p:sp>
      <p:sp>
        <p:nvSpPr>
          <p:cNvPr id="12" name="Shape 10"/>
          <p:cNvSpPr/>
          <p:nvPr/>
        </p:nvSpPr>
        <p:spPr>
          <a:xfrm>
            <a:off x="457200" y="2880360"/>
            <a:ext cx="26517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13" name="Text 11"/>
          <p:cNvSpPr txBox="1"/>
          <p:nvPr/>
        </p:nvSpPr>
        <p:spPr>
          <a:xfrm>
            <a:off x="640080" y="3063240"/>
            <a:ext cx="2286000" cy="365760"/>
          </a:xfrm>
          <a:prstGeom prst="rect">
            <a:avLst/>
          </a:prstGeom>
          <a:noFill/>
          <a:ln/>
        </p:spPr>
        <p:txBody>
          <a:bodyPr wrap="square" lIns="0" tIns="0" rIns="0" bIns="0" rtlCol="0" anchor="ctr"/>
          <a:lstStyle/>
          <a:p>
            <a:pPr marL="0" indent="0">
              <a:buNone/>
            </a:pPr>
            <a:r>
              <a:rPr lang="en-US" sz="1600" b="1" dirty="0">
                <a:solidFill>
                  <a:schemeClr val="tx2"/>
                </a:solidFill>
              </a:rPr>
              <a:t>Tiếp điểm</a:t>
            </a:r>
            <a:endParaRPr lang="en-US" sz="1600" dirty="0"/>
          </a:p>
        </p:txBody>
      </p:sp>
      <p:sp>
        <p:nvSpPr>
          <p:cNvPr id="14" name="Text 12"/>
          <p:cNvSpPr txBox="1"/>
          <p:nvPr/>
        </p:nvSpPr>
        <p:spPr>
          <a:xfrm>
            <a:off x="640080" y="3566160"/>
            <a:ext cx="2286000" cy="640080"/>
          </a:xfrm>
          <a:prstGeom prst="rect">
            <a:avLst/>
          </a:prstGeom>
          <a:noFill/>
          <a:ln/>
        </p:spPr>
        <p:txBody>
          <a:bodyPr wrap="square" lIns="0" tIns="0" rIns="0" bIns="0" rtlCol="0" anchor="t"/>
          <a:lstStyle/>
          <a:p>
            <a:pPr marL="0" indent="0">
              <a:buNone/>
            </a:pPr>
            <a:r>
              <a:rPr lang="en-US" sz="1400" dirty="0">
                <a:solidFill>
                  <a:schemeClr val="tx1"/>
                </a:solidFill>
              </a:rPr>
              <a:t>Thường mở (NO), thường đóng (NC)</a:t>
            </a:r>
            <a:endParaRPr lang="en-US" sz="1400" dirty="0"/>
          </a:p>
        </p:txBody>
      </p:sp>
      <p:sp>
        <p:nvSpPr>
          <p:cNvPr id="15" name="Shape 13"/>
          <p:cNvSpPr/>
          <p:nvPr/>
        </p:nvSpPr>
        <p:spPr>
          <a:xfrm>
            <a:off x="3246120" y="2880360"/>
            <a:ext cx="26517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16" name="Text 14"/>
          <p:cNvSpPr txBox="1"/>
          <p:nvPr/>
        </p:nvSpPr>
        <p:spPr>
          <a:xfrm>
            <a:off x="3429000" y="3063240"/>
            <a:ext cx="2286000" cy="365760"/>
          </a:xfrm>
          <a:prstGeom prst="rect">
            <a:avLst/>
          </a:prstGeom>
          <a:noFill/>
          <a:ln/>
        </p:spPr>
        <p:txBody>
          <a:bodyPr wrap="square" lIns="0" tIns="0" rIns="0" bIns="0" rtlCol="0" anchor="ctr"/>
          <a:lstStyle/>
          <a:p>
            <a:pPr marL="0" indent="0">
              <a:buNone/>
            </a:pPr>
            <a:r>
              <a:rPr lang="en-US" sz="1600" b="1" dirty="0">
                <a:solidFill>
                  <a:schemeClr val="tx2"/>
                </a:solidFill>
              </a:rPr>
              <a:t>Dòng chịu được</a:t>
            </a:r>
            <a:endParaRPr lang="en-US" sz="1600" dirty="0"/>
          </a:p>
        </p:txBody>
      </p:sp>
      <p:sp>
        <p:nvSpPr>
          <p:cNvPr id="17" name="Text 15"/>
          <p:cNvSpPr txBox="1"/>
          <p:nvPr/>
        </p:nvSpPr>
        <p:spPr>
          <a:xfrm>
            <a:off x="3429000" y="3566160"/>
            <a:ext cx="2286000" cy="640080"/>
          </a:xfrm>
          <a:prstGeom prst="rect">
            <a:avLst/>
          </a:prstGeom>
          <a:noFill/>
          <a:ln/>
        </p:spPr>
        <p:txBody>
          <a:bodyPr wrap="square" lIns="0" tIns="0" rIns="0" bIns="0" rtlCol="0" anchor="t"/>
          <a:lstStyle/>
          <a:p>
            <a:pPr marL="0" indent="0">
              <a:buNone/>
            </a:pPr>
            <a:r>
              <a:rPr lang="en-US" sz="1400" dirty="0">
                <a:solidFill>
                  <a:schemeClr val="tx1"/>
                </a:solidFill>
              </a:rPr>
              <a:t>Tiếp điểm thường 3A - 5A</a:t>
            </a:r>
            <a:endParaRPr lang="en-US" sz="1400" dirty="0"/>
          </a:p>
        </p:txBody>
      </p:sp>
      <p:sp>
        <p:nvSpPr>
          <p:cNvPr id="18" name="Shape 16"/>
          <p:cNvSpPr/>
          <p:nvPr/>
        </p:nvSpPr>
        <p:spPr>
          <a:xfrm>
            <a:off x="6035040" y="2880360"/>
            <a:ext cx="265176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19" name="Text 17"/>
          <p:cNvSpPr txBox="1"/>
          <p:nvPr/>
        </p:nvSpPr>
        <p:spPr>
          <a:xfrm>
            <a:off x="6217920" y="3063240"/>
            <a:ext cx="2286000" cy="365760"/>
          </a:xfrm>
          <a:prstGeom prst="rect">
            <a:avLst/>
          </a:prstGeom>
          <a:noFill/>
          <a:ln/>
        </p:spPr>
        <p:txBody>
          <a:bodyPr wrap="square" lIns="0" tIns="0" rIns="0" bIns="0" rtlCol="0" anchor="ctr"/>
          <a:lstStyle/>
          <a:p>
            <a:pPr marL="0" indent="0">
              <a:buNone/>
            </a:pPr>
            <a:r>
              <a:rPr lang="en-US" sz="1600" b="1" dirty="0">
                <a:solidFill>
                  <a:schemeClr val="tx2"/>
                </a:solidFill>
              </a:rPr>
              <a:t>Số chân</a:t>
            </a:r>
            <a:endParaRPr lang="en-US" sz="1600" dirty="0"/>
          </a:p>
        </p:txBody>
      </p:sp>
      <p:sp>
        <p:nvSpPr>
          <p:cNvPr id="20" name="Text 18"/>
          <p:cNvSpPr txBox="1"/>
          <p:nvPr/>
        </p:nvSpPr>
        <p:spPr>
          <a:xfrm>
            <a:off x="6217920" y="3566160"/>
            <a:ext cx="2286000" cy="640080"/>
          </a:xfrm>
          <a:prstGeom prst="rect">
            <a:avLst/>
          </a:prstGeom>
          <a:noFill/>
          <a:ln/>
        </p:spPr>
        <p:txBody>
          <a:bodyPr wrap="square" lIns="0" tIns="0" rIns="0" bIns="0" rtlCol="0" anchor="t"/>
          <a:lstStyle/>
          <a:p>
            <a:pPr marL="0" indent="0">
              <a:buNone/>
            </a:pPr>
            <a:r>
              <a:rPr lang="en-US" sz="1400" dirty="0">
                <a:solidFill>
                  <a:schemeClr val="tx1"/>
                </a:solidFill>
              </a:rPr>
              <a:t>8 chân hoặc 11 chân, tùy loại đế</a:t>
            </a:r>
            <a:endParaRPr lang="en-US" sz="1400" dirty="0"/>
          </a:p>
        </p:txBody>
      </p:sp>
      <p:sp>
        <p:nvSpPr>
          <p:cNvPr id="21" name="Text 19"/>
          <p:cNvSpPr txBox="1"/>
          <p:nvPr/>
        </p:nvSpPr>
        <p:spPr>
          <a:xfrm>
            <a:off x="457200" y="4526280"/>
            <a:ext cx="7680960" cy="274320"/>
          </a:xfrm>
          <a:prstGeom prst="rect">
            <a:avLst/>
          </a:prstGeom>
          <a:noFill/>
          <a:ln/>
        </p:spPr>
        <p:txBody>
          <a:bodyPr wrap="square" lIns="0" tIns="0" rIns="0" bIns="0" rtlCol="0" anchor="t"/>
          <a:lstStyle/>
          <a:p>
            <a:pPr marL="0" indent="0">
              <a:buNone/>
            </a:pPr>
            <a:r>
              <a:rPr lang="en-US" sz="1200" dirty="0">
                <a:solidFill>
                  <a:schemeClr val="accent5"/>
                </a:solidFill>
              </a:rPr>
              <a:t>Quan trọng nhất: điện áp cuộn dây khớp nguồn điều khiển, dải thời gian phù hợp với mạch</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Ứng dụng thực tế</a:t>
            </a:r>
            <a:endParaRPr lang="en-US" sz="3000" dirty="0"/>
          </a:p>
        </p:txBody>
      </p:sp>
      <p:sp>
        <p:nvSpPr>
          <p:cNvPr id="3" name="Shape 1"/>
          <p:cNvSpPr/>
          <p:nvPr/>
        </p:nvSpPr>
        <p:spPr>
          <a:xfrm>
            <a:off x="457200" y="128016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4" name="Text 2"/>
          <p:cNvSpPr txBox="1"/>
          <p:nvPr/>
        </p:nvSpPr>
        <p:spPr>
          <a:xfrm>
            <a:off x="457200" y="128016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5" name="Text 3"/>
          <p:cNvSpPr txBox="1"/>
          <p:nvPr/>
        </p:nvSpPr>
        <p:spPr>
          <a:xfrm>
            <a:off x="1005840" y="1280160"/>
            <a:ext cx="4480560" cy="384048"/>
          </a:xfrm>
          <a:prstGeom prst="rect">
            <a:avLst/>
          </a:prstGeom>
          <a:noFill/>
          <a:ln/>
        </p:spPr>
        <p:txBody>
          <a:bodyPr wrap="square" lIns="0" tIns="0" rIns="0" bIns="0" rtlCol="0" anchor="ctr"/>
          <a:lstStyle/>
          <a:p>
            <a:pPr marL="0" indent="0">
              <a:buNone/>
            </a:pPr>
            <a:r>
              <a:rPr lang="en-US" sz="1600" dirty="0" err="1">
                <a:solidFill>
                  <a:schemeClr val="tx1"/>
                </a:solidFill>
              </a:rPr>
              <a:t>Khởi</a:t>
            </a:r>
            <a:r>
              <a:rPr lang="en-US" sz="1600" dirty="0">
                <a:solidFill>
                  <a:schemeClr val="tx1"/>
                </a:solidFill>
              </a:rPr>
              <a:t> </a:t>
            </a:r>
            <a:r>
              <a:rPr lang="en-US" sz="1600" dirty="0" err="1">
                <a:solidFill>
                  <a:schemeClr val="tx1"/>
                </a:solidFill>
              </a:rPr>
              <a:t>động</a:t>
            </a:r>
            <a:r>
              <a:rPr lang="en-US" sz="1600" dirty="0">
                <a:solidFill>
                  <a:schemeClr val="tx1"/>
                </a:solidFill>
              </a:rPr>
              <a:t> </a:t>
            </a:r>
            <a:r>
              <a:rPr lang="en-US" sz="1600" dirty="0" err="1">
                <a:solidFill>
                  <a:schemeClr val="tx1"/>
                </a:solidFill>
              </a:rPr>
              <a:t>động</a:t>
            </a:r>
            <a:r>
              <a:rPr lang="en-US" sz="1600" dirty="0">
                <a:solidFill>
                  <a:schemeClr val="tx1"/>
                </a:solidFill>
              </a:rPr>
              <a:t> </a:t>
            </a:r>
            <a:r>
              <a:rPr lang="en-US" sz="1600" dirty="0" err="1">
                <a:solidFill>
                  <a:schemeClr val="tx1"/>
                </a:solidFill>
              </a:rPr>
              <a:t>cơ</a:t>
            </a:r>
            <a:r>
              <a:rPr lang="en-US" sz="1600" dirty="0">
                <a:solidFill>
                  <a:schemeClr val="tx1"/>
                </a:solidFill>
              </a:rPr>
              <a:t> 3 </a:t>
            </a:r>
            <a:r>
              <a:rPr lang="en-US" sz="1600" dirty="0" err="1">
                <a:solidFill>
                  <a:schemeClr val="tx1"/>
                </a:solidFill>
              </a:rPr>
              <a:t>pha</a:t>
            </a:r>
            <a:r>
              <a:rPr lang="en-US" sz="1600" dirty="0">
                <a:solidFill>
                  <a:schemeClr val="tx1"/>
                </a:solidFill>
              </a:rPr>
              <a:t> </a:t>
            </a:r>
            <a:r>
              <a:rPr lang="en-US" sz="1600" dirty="0" err="1">
                <a:solidFill>
                  <a:schemeClr val="tx1"/>
                </a:solidFill>
              </a:rPr>
              <a:t>sao</a:t>
            </a:r>
            <a:r>
              <a:rPr lang="en-US" sz="1600" dirty="0">
                <a:solidFill>
                  <a:schemeClr val="tx1"/>
                </a:solidFill>
              </a:rPr>
              <a:t> - tam </a:t>
            </a:r>
            <a:r>
              <a:rPr lang="en-US" sz="1600" dirty="0" err="1">
                <a:solidFill>
                  <a:schemeClr val="tx1"/>
                </a:solidFill>
              </a:rPr>
              <a:t>giác</a:t>
            </a:r>
            <a:endParaRPr lang="en-US" sz="1600" dirty="0"/>
          </a:p>
        </p:txBody>
      </p:sp>
      <p:sp>
        <p:nvSpPr>
          <p:cNvPr id="6" name="Shape 4"/>
          <p:cNvSpPr/>
          <p:nvPr/>
        </p:nvSpPr>
        <p:spPr>
          <a:xfrm>
            <a:off x="457200" y="192024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7" name="Text 5"/>
          <p:cNvSpPr txBox="1"/>
          <p:nvPr/>
        </p:nvSpPr>
        <p:spPr>
          <a:xfrm>
            <a:off x="457200" y="192024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2</a:t>
            </a:r>
            <a:endParaRPr lang="en-US" sz="1600" dirty="0"/>
          </a:p>
        </p:txBody>
      </p:sp>
      <p:sp>
        <p:nvSpPr>
          <p:cNvPr id="8" name="Text 6"/>
          <p:cNvSpPr txBox="1"/>
          <p:nvPr/>
        </p:nvSpPr>
        <p:spPr>
          <a:xfrm>
            <a:off x="1005840" y="1920240"/>
            <a:ext cx="4480560" cy="384048"/>
          </a:xfrm>
          <a:prstGeom prst="rect">
            <a:avLst/>
          </a:prstGeom>
          <a:noFill/>
          <a:ln/>
        </p:spPr>
        <p:txBody>
          <a:bodyPr wrap="square" lIns="0" tIns="0" rIns="0" bIns="0" rtlCol="0" anchor="ctr"/>
          <a:lstStyle/>
          <a:p>
            <a:pPr marL="0" indent="0">
              <a:buNone/>
            </a:pPr>
            <a:r>
              <a:rPr lang="en-US" sz="1600" dirty="0">
                <a:solidFill>
                  <a:schemeClr val="tx1"/>
                </a:solidFill>
              </a:rPr>
              <a:t>Đèn cầu thang, hành lang tự tắt</a:t>
            </a:r>
            <a:endParaRPr lang="en-US" sz="1600" dirty="0"/>
          </a:p>
        </p:txBody>
      </p:sp>
      <p:sp>
        <p:nvSpPr>
          <p:cNvPr id="9" name="Shape 7"/>
          <p:cNvSpPr/>
          <p:nvPr/>
        </p:nvSpPr>
        <p:spPr>
          <a:xfrm>
            <a:off x="457200" y="256032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457200" y="256032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3</a:t>
            </a:r>
            <a:endParaRPr lang="en-US" sz="1600" dirty="0"/>
          </a:p>
        </p:txBody>
      </p:sp>
      <p:sp>
        <p:nvSpPr>
          <p:cNvPr id="11" name="Text 9"/>
          <p:cNvSpPr txBox="1"/>
          <p:nvPr/>
        </p:nvSpPr>
        <p:spPr>
          <a:xfrm>
            <a:off x="1005840" y="2560320"/>
            <a:ext cx="4480560" cy="384048"/>
          </a:xfrm>
          <a:prstGeom prst="rect">
            <a:avLst/>
          </a:prstGeom>
          <a:noFill/>
          <a:ln/>
        </p:spPr>
        <p:txBody>
          <a:bodyPr wrap="square" lIns="0" tIns="0" rIns="0" bIns="0" rtlCol="0" anchor="ctr"/>
          <a:lstStyle/>
          <a:p>
            <a:pPr marL="0" indent="0">
              <a:buNone/>
            </a:pPr>
            <a:r>
              <a:rPr lang="en-US" sz="1600" dirty="0">
                <a:solidFill>
                  <a:schemeClr val="tx1"/>
                </a:solidFill>
              </a:rPr>
              <a:t>Băng tải chạy tuần tự</a:t>
            </a:r>
            <a:endParaRPr lang="en-US" sz="1600" dirty="0"/>
          </a:p>
        </p:txBody>
      </p:sp>
      <p:sp>
        <p:nvSpPr>
          <p:cNvPr id="12" name="Shape 10"/>
          <p:cNvSpPr/>
          <p:nvPr/>
        </p:nvSpPr>
        <p:spPr>
          <a:xfrm>
            <a:off x="457200" y="320040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3" name="Text 11"/>
          <p:cNvSpPr txBox="1"/>
          <p:nvPr/>
        </p:nvSpPr>
        <p:spPr>
          <a:xfrm>
            <a:off x="457200" y="320040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4</a:t>
            </a:r>
            <a:endParaRPr lang="en-US" sz="1600" dirty="0"/>
          </a:p>
        </p:txBody>
      </p:sp>
      <p:sp>
        <p:nvSpPr>
          <p:cNvPr id="14" name="Text 12"/>
          <p:cNvSpPr txBox="1"/>
          <p:nvPr/>
        </p:nvSpPr>
        <p:spPr>
          <a:xfrm>
            <a:off x="1005840" y="3200400"/>
            <a:ext cx="4480560" cy="384048"/>
          </a:xfrm>
          <a:prstGeom prst="rect">
            <a:avLst/>
          </a:prstGeom>
          <a:noFill/>
          <a:ln/>
        </p:spPr>
        <p:txBody>
          <a:bodyPr wrap="square" lIns="0" tIns="0" rIns="0" bIns="0" rtlCol="0" anchor="ctr"/>
          <a:lstStyle/>
          <a:p>
            <a:pPr marL="0" indent="0">
              <a:buNone/>
            </a:pPr>
            <a:r>
              <a:rPr lang="en-US" sz="1600" dirty="0">
                <a:solidFill>
                  <a:schemeClr val="tx1"/>
                </a:solidFill>
              </a:rPr>
              <a:t>Quạt thông gió chạy trễ hoặc tắt trễ</a:t>
            </a:r>
            <a:endParaRPr lang="en-US" sz="1600" dirty="0"/>
          </a:p>
        </p:txBody>
      </p:sp>
      <p:sp>
        <p:nvSpPr>
          <p:cNvPr id="15" name="Shape 13"/>
          <p:cNvSpPr/>
          <p:nvPr/>
        </p:nvSpPr>
        <p:spPr>
          <a:xfrm>
            <a:off x="457200" y="3840480"/>
            <a:ext cx="384048" cy="384048"/>
          </a:xfrm>
          <a:prstGeom prst="ellipse">
            <a:avLst/>
          </a:prstGeom>
          <a:solidFill>
            <a:schemeClr val="accent1"/>
          </a:solidFill>
          <a:ln w="12700">
            <a:solidFill>
              <a:schemeClr val="accent1"/>
            </a:solidFill>
            <a:prstDash val="solid"/>
          </a:ln>
        </p:spPr>
        <p:txBody>
          <a:bodyPr/>
          <a:lstStyle/>
          <a:p>
            <a:endParaRPr lang="en-US"/>
          </a:p>
        </p:txBody>
      </p:sp>
      <p:sp>
        <p:nvSpPr>
          <p:cNvPr id="16" name="Text 14"/>
          <p:cNvSpPr txBox="1"/>
          <p:nvPr/>
        </p:nvSpPr>
        <p:spPr>
          <a:xfrm>
            <a:off x="457200" y="3840480"/>
            <a:ext cx="384048" cy="384048"/>
          </a:xfrm>
          <a:prstGeom prst="rect">
            <a:avLst/>
          </a:prstGeom>
          <a:noFill/>
          <a:ln/>
        </p:spPr>
        <p:txBody>
          <a:bodyPr wrap="square" lIns="0" tIns="0" rIns="0" bIns="0" rtlCol="0" anchor="ctr"/>
          <a:lstStyle/>
          <a:p>
            <a:pPr marL="0" indent="0" algn="ctr">
              <a:buNone/>
            </a:pPr>
            <a:r>
              <a:rPr lang="en-US" sz="1600" b="1" dirty="0">
                <a:solidFill>
                  <a:schemeClr val="tx2"/>
                </a:solidFill>
              </a:rPr>
              <a:t>5</a:t>
            </a:r>
            <a:endParaRPr lang="en-US" sz="1600" dirty="0"/>
          </a:p>
        </p:txBody>
      </p:sp>
      <p:sp>
        <p:nvSpPr>
          <p:cNvPr id="17" name="Text 15"/>
          <p:cNvSpPr txBox="1"/>
          <p:nvPr/>
        </p:nvSpPr>
        <p:spPr>
          <a:xfrm>
            <a:off x="1005840" y="3840480"/>
            <a:ext cx="4480560" cy="384048"/>
          </a:xfrm>
          <a:prstGeom prst="rect">
            <a:avLst/>
          </a:prstGeom>
          <a:noFill/>
          <a:ln/>
        </p:spPr>
        <p:txBody>
          <a:bodyPr wrap="square" lIns="0" tIns="0" rIns="0" bIns="0" rtlCol="0" anchor="ctr"/>
          <a:lstStyle/>
          <a:p>
            <a:pPr marL="0" indent="0">
              <a:buNone/>
            </a:pPr>
            <a:r>
              <a:rPr lang="en-US" sz="1600" dirty="0">
                <a:solidFill>
                  <a:schemeClr val="tx1"/>
                </a:solidFill>
              </a:rPr>
              <a:t>Đèn giao thông, máy bơm, máy đóng gói</a:t>
            </a:r>
            <a:endParaRPr lang="en-US" sz="1600" dirty="0"/>
          </a:p>
        </p:txBody>
      </p:sp>
      <p:sp>
        <p:nvSpPr>
          <p:cNvPr id="18" name="Shape 16"/>
          <p:cNvSpPr/>
          <p:nvPr/>
        </p:nvSpPr>
        <p:spPr>
          <a:xfrm>
            <a:off x="5760720" y="1280160"/>
            <a:ext cx="2926080" cy="310896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19" name="Text 17"/>
          <p:cNvSpPr txBox="1"/>
          <p:nvPr/>
        </p:nvSpPr>
        <p:spPr>
          <a:xfrm>
            <a:off x="5943600" y="1737360"/>
            <a:ext cx="2560320" cy="822960"/>
          </a:xfrm>
          <a:prstGeom prst="rect">
            <a:avLst/>
          </a:prstGeom>
          <a:noFill/>
          <a:ln/>
        </p:spPr>
        <p:txBody>
          <a:bodyPr wrap="square" lIns="0" tIns="0" rIns="0" bIns="0" rtlCol="0" anchor="ctr"/>
          <a:lstStyle/>
          <a:p>
            <a:pPr algn="ctr"/>
            <a:r>
              <a:rPr lang="en-US" sz="2800" dirty="0" err="1">
                <a:solidFill>
                  <a:schemeClr val="accent1"/>
                </a:solidFill>
                <a:latin typeface="Cambria (Headings)"/>
              </a:rPr>
              <a:t>Dân</a:t>
            </a:r>
            <a:r>
              <a:rPr lang="en-US" sz="2800" dirty="0">
                <a:solidFill>
                  <a:schemeClr val="accent1"/>
                </a:solidFill>
                <a:latin typeface="Cambria (Headings)"/>
              </a:rPr>
              <a:t> </a:t>
            </a:r>
            <a:r>
              <a:rPr lang="en-US" sz="2800" dirty="0" err="1">
                <a:solidFill>
                  <a:schemeClr val="accent1"/>
                </a:solidFill>
                <a:latin typeface="Cambria (Headings)"/>
              </a:rPr>
              <a:t>dụng</a:t>
            </a:r>
            <a:r>
              <a:rPr lang="en-US" sz="2800" dirty="0">
                <a:solidFill>
                  <a:schemeClr val="accent1"/>
                </a:solidFill>
                <a:latin typeface="Cambria (Headings)"/>
              </a:rPr>
              <a:t> </a:t>
            </a:r>
            <a:r>
              <a:rPr lang="en-US" sz="2800" dirty="0" err="1">
                <a:solidFill>
                  <a:schemeClr val="accent1"/>
                </a:solidFill>
                <a:latin typeface="Cambria (Headings)"/>
              </a:rPr>
              <a:t>đến</a:t>
            </a:r>
            <a:r>
              <a:rPr lang="en-US" sz="2800" dirty="0">
                <a:solidFill>
                  <a:schemeClr val="accent1"/>
                </a:solidFill>
                <a:latin typeface="Cambria (Headings)"/>
              </a:rPr>
              <a:t> </a:t>
            </a:r>
            <a:r>
              <a:rPr lang="en-US" sz="2800" dirty="0" err="1">
                <a:solidFill>
                  <a:schemeClr val="accent1"/>
                </a:solidFill>
                <a:latin typeface="Cambria (Headings)"/>
              </a:rPr>
              <a:t>công</a:t>
            </a:r>
            <a:r>
              <a:rPr lang="en-US" sz="2800" dirty="0">
                <a:solidFill>
                  <a:schemeClr val="accent1"/>
                </a:solidFill>
                <a:latin typeface="Cambria (Headings)"/>
              </a:rPr>
              <a:t> </a:t>
            </a:r>
            <a:r>
              <a:rPr lang="en-US" sz="2800" dirty="0" err="1">
                <a:solidFill>
                  <a:schemeClr val="accent1"/>
                </a:solidFill>
                <a:latin typeface="Cambria (Headings)"/>
              </a:rPr>
              <a:t>nghiệp</a:t>
            </a:r>
            <a:endParaRPr lang="en-US" sz="2800" dirty="0">
              <a:solidFill>
                <a:schemeClr val="accent1"/>
              </a:solidFill>
              <a:latin typeface="Cambria (Headings)"/>
            </a:endParaRPr>
          </a:p>
        </p:txBody>
      </p:sp>
      <p:sp>
        <p:nvSpPr>
          <p:cNvPr id="20" name="Text 18"/>
          <p:cNvSpPr txBox="1"/>
          <p:nvPr/>
        </p:nvSpPr>
        <p:spPr>
          <a:xfrm>
            <a:off x="5989320" y="2743200"/>
            <a:ext cx="2468880" cy="1097280"/>
          </a:xfrm>
          <a:prstGeom prst="rect">
            <a:avLst/>
          </a:prstGeom>
          <a:noFill/>
          <a:ln/>
        </p:spPr>
        <p:txBody>
          <a:bodyPr wrap="square" lIns="0" tIns="0" rIns="0" bIns="0" rtlCol="0" anchor="t"/>
          <a:lstStyle/>
          <a:p>
            <a:pPr algn="ctr"/>
            <a:r>
              <a:rPr lang="en-US" sz="1400" dirty="0" err="1">
                <a:solidFill>
                  <a:schemeClr val="bg1"/>
                </a:solidFill>
              </a:rPr>
              <a:t>Từ</a:t>
            </a:r>
            <a:r>
              <a:rPr lang="en-US" sz="1400" dirty="0">
                <a:solidFill>
                  <a:schemeClr val="bg1"/>
                </a:solidFill>
              </a:rPr>
              <a:t> </a:t>
            </a:r>
            <a:r>
              <a:rPr lang="en-US" sz="1400" dirty="0" err="1">
                <a:solidFill>
                  <a:schemeClr val="bg1"/>
                </a:solidFill>
              </a:rPr>
              <a:t>chiếc</a:t>
            </a:r>
            <a:r>
              <a:rPr lang="en-US" sz="1400" dirty="0">
                <a:solidFill>
                  <a:schemeClr val="bg1"/>
                </a:solidFill>
              </a:rPr>
              <a:t> </a:t>
            </a:r>
            <a:r>
              <a:rPr lang="en-US" sz="1400" dirty="0" err="1">
                <a:solidFill>
                  <a:schemeClr val="bg1"/>
                </a:solidFill>
              </a:rPr>
              <a:t>đèn</a:t>
            </a:r>
            <a:r>
              <a:rPr lang="en-US" sz="1400" dirty="0">
                <a:solidFill>
                  <a:schemeClr val="bg1"/>
                </a:solidFill>
              </a:rPr>
              <a:t> </a:t>
            </a:r>
            <a:r>
              <a:rPr lang="en-US" sz="1400" dirty="0" err="1">
                <a:solidFill>
                  <a:schemeClr val="bg1"/>
                </a:solidFill>
              </a:rPr>
              <a:t>hành</a:t>
            </a:r>
            <a:r>
              <a:rPr lang="en-US" sz="1400" dirty="0">
                <a:solidFill>
                  <a:schemeClr val="bg1"/>
                </a:solidFill>
              </a:rPr>
              <a:t> lang </a:t>
            </a:r>
            <a:r>
              <a:rPr lang="en-US" sz="1400" dirty="0" err="1">
                <a:solidFill>
                  <a:schemeClr val="bg1"/>
                </a:solidFill>
              </a:rPr>
              <a:t>đến</a:t>
            </a:r>
            <a:r>
              <a:rPr lang="en-US" sz="1400" dirty="0">
                <a:solidFill>
                  <a:schemeClr val="bg1"/>
                </a:solidFill>
              </a:rPr>
              <a:t> </a:t>
            </a:r>
            <a:r>
              <a:rPr lang="en-US" sz="1400" dirty="0" err="1">
                <a:solidFill>
                  <a:schemeClr val="bg1"/>
                </a:solidFill>
              </a:rPr>
              <a:t>dây</a:t>
            </a:r>
            <a:r>
              <a:rPr lang="en-US" sz="1400" dirty="0">
                <a:solidFill>
                  <a:schemeClr val="bg1"/>
                </a:solidFill>
              </a:rPr>
              <a:t> </a:t>
            </a:r>
            <a:r>
              <a:rPr lang="en-US" sz="1400" dirty="0" err="1">
                <a:solidFill>
                  <a:schemeClr val="bg1"/>
                </a:solidFill>
              </a:rPr>
              <a:t>chuyền</a:t>
            </a:r>
            <a:r>
              <a:rPr lang="en-US" sz="1400" dirty="0">
                <a:solidFill>
                  <a:schemeClr val="bg1"/>
                </a:solidFill>
              </a:rPr>
              <a:t> </a:t>
            </a:r>
            <a:r>
              <a:rPr lang="en-US" sz="1400" dirty="0" err="1">
                <a:solidFill>
                  <a:schemeClr val="bg1"/>
                </a:solidFill>
              </a:rPr>
              <a:t>sản</a:t>
            </a:r>
            <a:r>
              <a:rPr lang="en-US" sz="1400" dirty="0">
                <a:solidFill>
                  <a:schemeClr val="bg1"/>
                </a:solidFill>
              </a:rPr>
              <a:t> </a:t>
            </a:r>
            <a:r>
              <a:rPr lang="en-US" sz="1400" dirty="0" err="1">
                <a:solidFill>
                  <a:schemeClr val="bg1"/>
                </a:solidFill>
              </a:rPr>
              <a:t>xuất</a:t>
            </a:r>
            <a:r>
              <a:rPr lang="en-US" sz="1400" dirty="0">
                <a:solidFill>
                  <a:schemeClr val="bg1"/>
                </a:solidFill>
              </a:rPr>
              <a:t> </a:t>
            </a:r>
            <a:r>
              <a:rPr lang="en-US" sz="1400" dirty="0" err="1">
                <a:solidFill>
                  <a:schemeClr val="bg1"/>
                </a:solidFill>
              </a:rPr>
              <a:t>tự</a:t>
            </a:r>
            <a:r>
              <a:rPr lang="en-US" sz="1400" dirty="0">
                <a:solidFill>
                  <a:schemeClr val="bg1"/>
                </a:solidFill>
              </a:rPr>
              <a:t> </a:t>
            </a:r>
            <a:r>
              <a:rPr lang="en-US" sz="1400" dirty="0" err="1">
                <a:solidFill>
                  <a:schemeClr val="bg1"/>
                </a:solidFill>
              </a:rPr>
              <a:t>động</a:t>
            </a:r>
            <a:endParaRPr lang="en-US" sz="1400" dirty="0">
              <a:solidFill>
                <a:schemeClr val="bg1"/>
              </a:solidFill>
            </a:endParaRPr>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Mô phỏng trên CADe_SIMU</a:t>
            </a:r>
            <a:endParaRPr lang="en-US" sz="3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pic>
        <p:nvPicPr>
          <p:cNvPr id="19" name="Picture 18">
            <a:extLst>
              <a:ext uri="{FF2B5EF4-FFF2-40B4-BE49-F238E27FC236}">
                <a16:creationId xmlns:a16="http://schemas.microsoft.com/office/drawing/2014/main" id="{F931C4AA-2EA5-3F15-6DF7-EF6A6E4FAD14}"/>
              </a:ext>
            </a:extLst>
          </p:cNvPr>
          <p:cNvPicPr>
            <a:picLocks noChangeAspect="1"/>
          </p:cNvPicPr>
          <p:nvPr/>
        </p:nvPicPr>
        <p:blipFill>
          <a:blip r:embed="rId3"/>
          <a:stretch>
            <a:fillRect/>
          </a:stretch>
        </p:blipFill>
        <p:spPr>
          <a:xfrm>
            <a:off x="1478012" y="1261577"/>
            <a:ext cx="6187976" cy="3101609"/>
          </a:xfrm>
          <a:prstGeom prst="rect">
            <a:avLst/>
          </a:prstGeom>
        </p:spPr>
      </p:pic>
    </p:spTree>
  </p:cSld>
  <p:clrMapOvr>
    <a:masterClrMapping/>
  </p:clrMapOvr>
</p:sld>
</file>

<file path=ppt/theme/theme1.xml><?xml version="1.0" encoding="utf-8"?>
<a:theme xmlns:a="http://schemas.openxmlformats.org/drawingml/2006/main" name="RoLeThoiGian">
  <a:themeElements>
    <a:clrScheme name="RoLeThoiGian">
      <a:dk1>
        <a:srgbClr val="1A1A1A"/>
      </a:dk1>
      <a:lt1>
        <a:srgbClr val="FFFFFF"/>
      </a:lt1>
      <a:dk2>
        <a:srgbClr val="14213D"/>
      </a:dk2>
      <a:lt2>
        <a:srgbClr val="F1F4F8"/>
      </a:lt2>
      <a:accent1>
        <a:srgbClr val="F2A900"/>
      </a:accent1>
      <a:accent2>
        <a:srgbClr val="2E86AB"/>
      </a:accent2>
      <a:accent3>
        <a:srgbClr val="E4572E"/>
      </a:accent3>
      <a:accent4>
        <a:srgbClr val="3D9970"/>
      </a:accent4>
      <a:accent5>
        <a:srgbClr val="5F6B7A"/>
      </a:accent5>
      <a:accent6>
        <a:srgbClr val="8E5572"/>
      </a:accent6>
      <a:hlink>
        <a:srgbClr val="2E86AB"/>
      </a:hlink>
      <a:folHlink>
        <a:srgbClr val="8E5572"/>
      </a:folHlink>
    </a:clrScheme>
    <a:fontScheme name="RoLeThoiGi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629</TotalTime>
  <Words>702</Words>
  <Application>Microsoft Office PowerPoint</Application>
  <PresentationFormat>On-screen Show (16:9)</PresentationFormat>
  <Paragraphs>74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Cambria (Headings)</vt:lpstr>
      <vt:lpstr>Arial</vt:lpstr>
      <vt:lpstr>Calibri</vt:lpstr>
      <vt:lpstr>RoLeThoiGian</vt:lpstr>
      <vt:lpstr>TÌM HIỂU RƠ LE THỜI GIAN (TIMER RELAY) VÀ ỨNG DỤNG TRONG MẠCH KHỞI ĐỘNG SAO - TAM GIÁC</vt:lpstr>
      <vt:lpstr>Rơ le thời gian là gì</vt:lpstr>
      <vt:lpstr>Phân loại rơ le thời gian</vt:lpstr>
      <vt:lpstr>Thông số khi chọn rơ le thời gian</vt:lpstr>
      <vt:lpstr>Ứng dụng thực tế</vt:lpstr>
      <vt:lpstr>Mô phỏng trên CADe_SIMU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rơ le thời gian</dc:title>
  <dc:subject>PptxGenJS Presentation</dc:subject>
  <dc:creator>PptxGenJS</dc:creator>
  <cp:lastModifiedBy>Phu Duong</cp:lastModifiedBy>
  <cp:revision>2</cp:revision>
  <dcterms:created xsi:type="dcterms:W3CDTF">2026-10-03T16:49:34Z</dcterms:created>
  <dcterms:modified xsi:type="dcterms:W3CDTF">2026-10-04T03:59:54Z</dcterms:modified>
</cp:coreProperties>
</file>